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AAC29BA-19FF-494F-AD0F-3D63502CB8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65DC72B-3AE3-40ED-A677-86C084D90F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C395A87-E78E-4E74-A81A-0E855A0A1F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8B72503-7BA4-405A-AF4B-1BDEDCE1BF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EE137B1-A45F-4F87-9A65-A39A0AF6D6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FE7325F-6F40-4E1D-9369-7AD47C88E7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EE11690-35F2-4EDA-BA03-EC8A007D5C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16A0E65-A4E6-4668-B885-6F2BF85C85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8411B07-4FB2-45E7-81F3-4CF957A09A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B1D9CCE-8236-4F60-AC66-A6484047C0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29BA03A-E1CA-4162-8498-AC6CC704A1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" descr="campus.jpe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Rectangle 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e2761">
              <a:alpha val="78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10820160" y="274320"/>
            <a:ext cx="365040" cy="11808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4"/>
          <p:cNvSpPr/>
          <p:nvPr/>
        </p:nvSpPr>
        <p:spPr>
          <a:xfrm>
            <a:off x="11185920" y="274320"/>
            <a:ext cx="365040" cy="11808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Rectangle 5"/>
          <p:cNvSpPr/>
          <p:nvPr/>
        </p:nvSpPr>
        <p:spPr>
          <a:xfrm>
            <a:off x="11551680" y="274320"/>
            <a:ext cx="365040" cy="11808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6" name="Picture 6" descr="bits_logo.png"/>
          <p:cNvPicPr/>
          <p:nvPr/>
        </p:nvPicPr>
        <p:blipFill>
          <a:blip r:embed="rId2"/>
          <a:stretch/>
        </p:blipFill>
        <p:spPr>
          <a:xfrm>
            <a:off x="10362960" y="502920"/>
            <a:ext cx="1553760" cy="54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Box 7"/>
          <p:cNvSpPr/>
          <p:nvPr/>
        </p:nvSpPr>
        <p:spPr>
          <a:xfrm>
            <a:off x="502920" y="502920"/>
            <a:ext cx="5485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CS F437 - Generative Artificial Intelligence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731520" y="2286000"/>
            <a:ext cx="107280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Mamba</a:t>
            </a:r>
            <a:endParaRPr lang="en-IN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731520" y="3063240"/>
            <a:ext cx="107280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Linear-Time Sequence Modeling with Selective State Spaces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731520" y="3703320"/>
            <a:ext cx="10728000" cy="31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0" i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Paper Study &amp; Partial Reproduction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11"/>
          <p:cNvSpPr/>
          <p:nvPr/>
        </p:nvSpPr>
        <p:spPr>
          <a:xfrm>
            <a:off x="777240" y="5029200"/>
            <a:ext cx="2285280" cy="1836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770760" y="5220000"/>
            <a:ext cx="82288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Krish Mathur   •   Sahid Alam  •   Yashraj Soni  •   Tanya Khathuria •   Pranshul Arora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5"/>
          <p:cNvSpPr/>
          <p:nvPr/>
        </p:nvSpPr>
        <p:spPr>
          <a:xfrm>
            <a:off x="8076960" y="635508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Gu &amp; Dao (2023)  •  arXiv:2312.00752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7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2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Agenda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Paper study  •  Implementation  •  Reproduction results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ectangle 13"/>
          <p:cNvSpPr/>
          <p:nvPr/>
        </p:nvSpPr>
        <p:spPr>
          <a:xfrm>
            <a:off x="640080" y="137160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01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4"/>
          <p:cNvSpPr/>
          <p:nvPr/>
        </p:nvSpPr>
        <p:spPr>
          <a:xfrm>
            <a:off x="1325880" y="14173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The Core Problem &amp; Motivation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15"/>
          <p:cNvSpPr/>
          <p:nvPr/>
        </p:nvSpPr>
        <p:spPr>
          <a:xfrm>
            <a:off x="640080" y="193860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02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6"/>
          <p:cNvSpPr/>
          <p:nvPr/>
        </p:nvSpPr>
        <p:spPr>
          <a:xfrm>
            <a:off x="1325880" y="19843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State Space Models — Background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17"/>
          <p:cNvSpPr/>
          <p:nvPr/>
        </p:nvSpPr>
        <p:spPr>
          <a:xfrm>
            <a:off x="640080" y="250560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03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8"/>
          <p:cNvSpPr/>
          <p:nvPr/>
        </p:nvSpPr>
        <p:spPr>
          <a:xfrm>
            <a:off x="1325880" y="25513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Mamba Innovations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19"/>
          <p:cNvSpPr/>
          <p:nvPr/>
        </p:nvSpPr>
        <p:spPr>
          <a:xfrm>
            <a:off x="640080" y="307224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04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20"/>
          <p:cNvSpPr/>
          <p:nvPr/>
        </p:nvSpPr>
        <p:spPr>
          <a:xfrm>
            <a:off x="1325880" y="31179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Paper Benchmark Methodology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21"/>
          <p:cNvSpPr/>
          <p:nvPr/>
        </p:nvSpPr>
        <p:spPr>
          <a:xfrm>
            <a:off x="640080" y="363924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05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22"/>
          <p:cNvSpPr/>
          <p:nvPr/>
        </p:nvSpPr>
        <p:spPr>
          <a:xfrm>
            <a:off x="1325880" y="36849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Key Results from the Paper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23"/>
          <p:cNvSpPr/>
          <p:nvPr/>
        </p:nvSpPr>
        <p:spPr>
          <a:xfrm>
            <a:off x="640080" y="420624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06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24"/>
          <p:cNvSpPr/>
          <p:nvPr/>
        </p:nvSpPr>
        <p:spPr>
          <a:xfrm>
            <a:off x="1325880" y="42519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Mamba vs Transformer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 25"/>
          <p:cNvSpPr/>
          <p:nvPr/>
        </p:nvSpPr>
        <p:spPr>
          <a:xfrm>
            <a:off x="6400800" y="137160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07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6"/>
          <p:cNvSpPr/>
          <p:nvPr/>
        </p:nvSpPr>
        <p:spPr>
          <a:xfrm>
            <a:off x="7086600" y="14173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Limitations of Mamba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27"/>
          <p:cNvSpPr/>
          <p:nvPr/>
        </p:nvSpPr>
        <p:spPr>
          <a:xfrm>
            <a:off x="6400800" y="193860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08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28"/>
          <p:cNvSpPr/>
          <p:nvPr/>
        </p:nvSpPr>
        <p:spPr>
          <a:xfrm>
            <a:off x="7086600" y="19843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Our Reproduction Approach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29"/>
          <p:cNvSpPr/>
          <p:nvPr/>
        </p:nvSpPr>
        <p:spPr>
          <a:xfrm>
            <a:off x="6400800" y="250560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09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30"/>
          <p:cNvSpPr/>
          <p:nvPr/>
        </p:nvSpPr>
        <p:spPr>
          <a:xfrm>
            <a:off x="7086600" y="25513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Implementation &amp; Workflow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31"/>
          <p:cNvSpPr/>
          <p:nvPr/>
        </p:nvSpPr>
        <p:spPr>
          <a:xfrm>
            <a:off x="6400800" y="307224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32"/>
          <p:cNvSpPr/>
          <p:nvPr/>
        </p:nvSpPr>
        <p:spPr>
          <a:xfrm>
            <a:off x="7086600" y="31179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Our Benchmark Results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33"/>
          <p:cNvSpPr/>
          <p:nvPr/>
        </p:nvSpPr>
        <p:spPr>
          <a:xfrm>
            <a:off x="6400800" y="363924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11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4"/>
          <p:cNvSpPr/>
          <p:nvPr/>
        </p:nvSpPr>
        <p:spPr>
          <a:xfrm>
            <a:off x="7086600" y="36849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Mamba-2 &amp; Mamba-3 Lineage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35"/>
          <p:cNvSpPr/>
          <p:nvPr/>
        </p:nvSpPr>
        <p:spPr>
          <a:xfrm>
            <a:off x="6400800" y="4206240"/>
            <a:ext cx="502200" cy="4107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12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6"/>
          <p:cNvSpPr/>
          <p:nvPr/>
        </p:nvSpPr>
        <p:spPr>
          <a:xfrm>
            <a:off x="7086600" y="42519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Conclusion &amp; Future Directions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7"/>
          <p:cNvSpPr/>
          <p:nvPr/>
        </p:nvSpPr>
        <p:spPr>
          <a:xfrm>
            <a:off x="640080" y="5943600"/>
            <a:ext cx="10362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Two-part structure: paper study  →  experimental reproduction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3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The Core Problem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Why a new sequence model was needed in 2023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13"/>
          <p:cNvSpPr/>
          <p:nvPr/>
        </p:nvSpPr>
        <p:spPr>
          <a:xfrm>
            <a:off x="640080" y="1417320"/>
            <a:ext cx="640008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400"/>
              </a:spcAft>
            </a:pPr>
            <a:r>
              <a:rPr lang="en-US" sz="2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Transformers scale quadratically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Bef>
                <a:spcPts val="201"/>
              </a:spcBef>
              <a:spcAft>
                <a:spcPts val="1400"/>
              </a:spcAft>
            </a:pPr>
            <a:r>
              <a:rPr lang="en-US" sz="14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Attention is O(n²) in both compute and memory with sequence length 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Bef>
                <a:spcPts val="201"/>
              </a:spcBef>
              <a:spcAft>
                <a:spcPts val="400"/>
              </a:spcAft>
            </a:pPr>
            <a:r>
              <a:rPr lang="en-US" sz="2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KV-cache explodes for long context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Bef>
                <a:spcPts val="201"/>
              </a:spcBef>
              <a:spcAft>
                <a:spcPts val="1400"/>
              </a:spcAft>
            </a:pPr>
            <a:r>
              <a:rPr lang="en-US" sz="14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Inference memory grows linearly with every generated token; long contexts are impractical.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Bef>
                <a:spcPts val="201"/>
              </a:spcBef>
              <a:spcAft>
                <a:spcPts val="400"/>
              </a:spcAft>
            </a:pPr>
            <a:r>
              <a:rPr lang="en-US" sz="2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Prior SSMs were too rigid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S4 and HiPPO were efficient but content-agnostic — they could not selectively focus or forget.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14"/>
          <p:cNvSpPr/>
          <p:nvPr/>
        </p:nvSpPr>
        <p:spPr>
          <a:xfrm>
            <a:off x="7589520" y="1417320"/>
            <a:ext cx="4114080" cy="40226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15"/>
          <p:cNvSpPr/>
          <p:nvPr/>
        </p:nvSpPr>
        <p:spPr>
          <a:xfrm>
            <a:off x="7818120" y="16002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Compute / memory vs sequence length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16"/>
          <p:cNvSpPr/>
          <p:nvPr/>
        </p:nvSpPr>
        <p:spPr>
          <a:xfrm>
            <a:off x="8092440" y="4709160"/>
            <a:ext cx="3336840" cy="8640"/>
          </a:xfrm>
          <a:prstGeom prst="rect">
            <a:avLst/>
          </a:prstGeom>
          <a:solidFill>
            <a:srgbClr val="4b556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ectangle 17"/>
          <p:cNvSpPr/>
          <p:nvPr/>
        </p:nvSpPr>
        <p:spPr>
          <a:xfrm>
            <a:off x="8092440" y="2103120"/>
            <a:ext cx="8640" cy="2605320"/>
          </a:xfrm>
          <a:prstGeom prst="rect">
            <a:avLst/>
          </a:prstGeom>
          <a:solidFill>
            <a:srgbClr val="4b556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18"/>
          <p:cNvSpPr/>
          <p:nvPr/>
        </p:nvSpPr>
        <p:spPr>
          <a:xfrm>
            <a:off x="8092440" y="4800600"/>
            <a:ext cx="3336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sequence length →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9"/>
          <p:cNvSpPr/>
          <p:nvPr/>
        </p:nvSpPr>
        <p:spPr>
          <a:xfrm>
            <a:off x="7635240" y="2560320"/>
            <a:ext cx="4564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cost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0" name="Connector 20"/>
          <p:cNvCxnSpPr/>
          <p:nvPr/>
        </p:nvCxnSpPr>
        <p:spPr>
          <a:xfrm flipV="1">
            <a:off x="8092440" y="4655160"/>
            <a:ext cx="83880" cy="252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1" name="Connector 21"/>
          <p:cNvCxnSpPr/>
          <p:nvPr/>
        </p:nvCxnSpPr>
        <p:spPr>
          <a:xfrm flipV="1">
            <a:off x="8175600" y="4650840"/>
            <a:ext cx="84240" cy="504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2" name="Connector 22"/>
          <p:cNvCxnSpPr/>
          <p:nvPr/>
        </p:nvCxnSpPr>
        <p:spPr>
          <a:xfrm flipV="1">
            <a:off x="8259120" y="4642920"/>
            <a:ext cx="84240" cy="864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3" name="Connector 23"/>
          <p:cNvCxnSpPr/>
          <p:nvPr/>
        </p:nvCxnSpPr>
        <p:spPr>
          <a:xfrm flipV="1">
            <a:off x="8342640" y="4632120"/>
            <a:ext cx="84240" cy="1152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4" name="Connector 24"/>
          <p:cNvCxnSpPr/>
          <p:nvPr/>
        </p:nvCxnSpPr>
        <p:spPr>
          <a:xfrm flipV="1">
            <a:off x="8426160" y="4618080"/>
            <a:ext cx="83880" cy="147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5" name="Connector 25"/>
          <p:cNvCxnSpPr/>
          <p:nvPr/>
        </p:nvCxnSpPr>
        <p:spPr>
          <a:xfrm flipV="1">
            <a:off x="8509320" y="4601160"/>
            <a:ext cx="84240" cy="1764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6" name="Connector 26"/>
          <p:cNvCxnSpPr/>
          <p:nvPr/>
        </p:nvCxnSpPr>
        <p:spPr>
          <a:xfrm flipV="1">
            <a:off x="8592840" y="4581000"/>
            <a:ext cx="84240" cy="208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7" name="Connector 27"/>
          <p:cNvCxnSpPr/>
          <p:nvPr/>
        </p:nvCxnSpPr>
        <p:spPr>
          <a:xfrm flipV="1">
            <a:off x="8676360" y="4557960"/>
            <a:ext cx="84240" cy="237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8" name="Connector 28"/>
          <p:cNvCxnSpPr/>
          <p:nvPr/>
        </p:nvCxnSpPr>
        <p:spPr>
          <a:xfrm flipV="1">
            <a:off x="8759880" y="4531680"/>
            <a:ext cx="83880" cy="2700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39" name="Connector 29"/>
          <p:cNvCxnSpPr/>
          <p:nvPr/>
        </p:nvCxnSpPr>
        <p:spPr>
          <a:xfrm flipV="1">
            <a:off x="8843040" y="4502160"/>
            <a:ext cx="84240" cy="3024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0" name="Connector 30"/>
          <p:cNvCxnSpPr/>
          <p:nvPr/>
        </p:nvCxnSpPr>
        <p:spPr>
          <a:xfrm flipV="1">
            <a:off x="8926560" y="4469760"/>
            <a:ext cx="84240" cy="3312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1" name="Connector 31"/>
          <p:cNvCxnSpPr/>
          <p:nvPr/>
        </p:nvCxnSpPr>
        <p:spPr>
          <a:xfrm flipV="1">
            <a:off x="9010080" y="4434120"/>
            <a:ext cx="84240" cy="363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2" name="Connector 32"/>
          <p:cNvCxnSpPr/>
          <p:nvPr/>
        </p:nvCxnSpPr>
        <p:spPr>
          <a:xfrm flipV="1">
            <a:off x="9093600" y="4395240"/>
            <a:ext cx="84240" cy="3960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3" name="Connector 33"/>
          <p:cNvCxnSpPr/>
          <p:nvPr/>
        </p:nvCxnSpPr>
        <p:spPr>
          <a:xfrm flipV="1">
            <a:off x="9177120" y="4353480"/>
            <a:ext cx="83880" cy="424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4" name="Connector 34"/>
          <p:cNvCxnSpPr/>
          <p:nvPr/>
        </p:nvCxnSpPr>
        <p:spPr>
          <a:xfrm flipV="1">
            <a:off x="9260280" y="4308840"/>
            <a:ext cx="84240" cy="453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5" name="Connector 35"/>
          <p:cNvCxnSpPr/>
          <p:nvPr/>
        </p:nvCxnSpPr>
        <p:spPr>
          <a:xfrm flipV="1">
            <a:off x="9343800" y="4260600"/>
            <a:ext cx="84240" cy="489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6" name="Connector 36"/>
          <p:cNvCxnSpPr/>
          <p:nvPr/>
        </p:nvCxnSpPr>
        <p:spPr>
          <a:xfrm flipV="1">
            <a:off x="9427320" y="4209840"/>
            <a:ext cx="84240" cy="514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7" name="Connector 37"/>
          <p:cNvCxnSpPr/>
          <p:nvPr/>
        </p:nvCxnSpPr>
        <p:spPr>
          <a:xfrm flipV="1">
            <a:off x="9510840" y="4155480"/>
            <a:ext cx="83880" cy="550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8" name="Connector 38"/>
          <p:cNvCxnSpPr/>
          <p:nvPr/>
        </p:nvCxnSpPr>
        <p:spPr>
          <a:xfrm flipV="1">
            <a:off x="9594000" y="4098240"/>
            <a:ext cx="84240" cy="579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49" name="Connector 39"/>
          <p:cNvCxnSpPr/>
          <p:nvPr/>
        </p:nvCxnSpPr>
        <p:spPr>
          <a:xfrm flipV="1">
            <a:off x="9677520" y="4037760"/>
            <a:ext cx="84240" cy="6120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0" name="Connector 40"/>
          <p:cNvCxnSpPr/>
          <p:nvPr/>
        </p:nvCxnSpPr>
        <p:spPr>
          <a:xfrm flipV="1">
            <a:off x="9761040" y="3974400"/>
            <a:ext cx="84240" cy="640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1" name="Connector 41"/>
          <p:cNvCxnSpPr/>
          <p:nvPr/>
        </p:nvCxnSpPr>
        <p:spPr>
          <a:xfrm flipV="1">
            <a:off x="9844560" y="3907800"/>
            <a:ext cx="84240" cy="6732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2" name="Connector 42"/>
          <p:cNvCxnSpPr/>
          <p:nvPr/>
        </p:nvCxnSpPr>
        <p:spPr>
          <a:xfrm flipV="1">
            <a:off x="9928080" y="3838320"/>
            <a:ext cx="83880" cy="7020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3" name="Connector 43"/>
          <p:cNvCxnSpPr/>
          <p:nvPr/>
        </p:nvCxnSpPr>
        <p:spPr>
          <a:xfrm flipV="1">
            <a:off x="10011240" y="3765600"/>
            <a:ext cx="84240" cy="7344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4" name="Connector 44"/>
          <p:cNvCxnSpPr/>
          <p:nvPr/>
        </p:nvCxnSpPr>
        <p:spPr>
          <a:xfrm flipV="1">
            <a:off x="10094760" y="3689640"/>
            <a:ext cx="84240" cy="766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5" name="Connector 45"/>
          <p:cNvCxnSpPr/>
          <p:nvPr/>
        </p:nvCxnSpPr>
        <p:spPr>
          <a:xfrm flipV="1">
            <a:off x="10178280" y="3610800"/>
            <a:ext cx="84240" cy="795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6" name="Connector 46"/>
          <p:cNvCxnSpPr/>
          <p:nvPr/>
        </p:nvCxnSpPr>
        <p:spPr>
          <a:xfrm flipV="1">
            <a:off x="10261800" y="3528720"/>
            <a:ext cx="83880" cy="8280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7" name="Connector 47"/>
          <p:cNvCxnSpPr/>
          <p:nvPr/>
        </p:nvCxnSpPr>
        <p:spPr>
          <a:xfrm flipV="1">
            <a:off x="10344960" y="3443760"/>
            <a:ext cx="84240" cy="856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8" name="Connector 48"/>
          <p:cNvCxnSpPr/>
          <p:nvPr/>
        </p:nvCxnSpPr>
        <p:spPr>
          <a:xfrm flipV="1">
            <a:off x="10428480" y="3355560"/>
            <a:ext cx="84240" cy="8892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59" name="Connector 49"/>
          <p:cNvCxnSpPr/>
          <p:nvPr/>
        </p:nvCxnSpPr>
        <p:spPr>
          <a:xfrm flipV="1">
            <a:off x="10512000" y="3264120"/>
            <a:ext cx="84240" cy="921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0" name="Connector 50"/>
          <p:cNvCxnSpPr/>
          <p:nvPr/>
        </p:nvCxnSpPr>
        <p:spPr>
          <a:xfrm flipV="1">
            <a:off x="10595520" y="3169800"/>
            <a:ext cx="84240" cy="9504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1" name="Connector 51"/>
          <p:cNvCxnSpPr/>
          <p:nvPr/>
        </p:nvCxnSpPr>
        <p:spPr>
          <a:xfrm flipV="1">
            <a:off x="10679040" y="3072240"/>
            <a:ext cx="83880" cy="982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2" name="Connector 52"/>
          <p:cNvCxnSpPr/>
          <p:nvPr/>
        </p:nvCxnSpPr>
        <p:spPr>
          <a:xfrm flipV="1">
            <a:off x="10762200" y="2971800"/>
            <a:ext cx="84240" cy="1011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3" name="Connector 53"/>
          <p:cNvCxnSpPr/>
          <p:nvPr/>
        </p:nvCxnSpPr>
        <p:spPr>
          <a:xfrm flipV="1">
            <a:off x="10845720" y="2868120"/>
            <a:ext cx="84240" cy="10440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4" name="Connector 54"/>
          <p:cNvCxnSpPr/>
          <p:nvPr/>
        </p:nvCxnSpPr>
        <p:spPr>
          <a:xfrm flipV="1">
            <a:off x="10929240" y="2761200"/>
            <a:ext cx="84240" cy="10764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5" name="Connector 55"/>
          <p:cNvCxnSpPr/>
          <p:nvPr/>
        </p:nvCxnSpPr>
        <p:spPr>
          <a:xfrm flipV="1">
            <a:off x="11012760" y="2651400"/>
            <a:ext cx="83880" cy="11052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6" name="Connector 56"/>
          <p:cNvCxnSpPr/>
          <p:nvPr/>
        </p:nvCxnSpPr>
        <p:spPr>
          <a:xfrm flipV="1">
            <a:off x="11095920" y="2538720"/>
            <a:ext cx="84240" cy="11340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7" name="Connector 57"/>
          <p:cNvCxnSpPr/>
          <p:nvPr/>
        </p:nvCxnSpPr>
        <p:spPr>
          <a:xfrm flipV="1">
            <a:off x="11179440" y="2422440"/>
            <a:ext cx="84240" cy="11700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8" name="Connector 58"/>
          <p:cNvCxnSpPr/>
          <p:nvPr/>
        </p:nvCxnSpPr>
        <p:spPr>
          <a:xfrm flipV="1">
            <a:off x="11262960" y="2303280"/>
            <a:ext cx="84240" cy="11988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69" name="Connector 59"/>
          <p:cNvCxnSpPr/>
          <p:nvPr/>
        </p:nvCxnSpPr>
        <p:spPr>
          <a:xfrm flipV="1">
            <a:off x="11346480" y="2181240"/>
            <a:ext cx="84240" cy="122760"/>
          </a:xfrm>
          <a:prstGeom prst="straightConnector1">
            <a:avLst/>
          </a:prstGeom>
          <a:ln w="34925">
            <a:solidFill>
              <a:srgbClr val="dc3545"/>
            </a:solidFill>
            <a:round/>
          </a:ln>
        </p:spPr>
      </p:cxnSp>
      <p:cxnSp>
        <p:nvCxnSpPr>
          <p:cNvPr id="170" name="Connector 60"/>
          <p:cNvCxnSpPr/>
          <p:nvPr/>
        </p:nvCxnSpPr>
        <p:spPr>
          <a:xfrm flipV="1">
            <a:off x="8092440" y="4637160"/>
            <a:ext cx="8388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1" name="Connector 61"/>
          <p:cNvCxnSpPr/>
          <p:nvPr/>
        </p:nvCxnSpPr>
        <p:spPr>
          <a:xfrm flipV="1">
            <a:off x="8175600" y="461772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2" name="Connector 62"/>
          <p:cNvCxnSpPr/>
          <p:nvPr/>
        </p:nvCxnSpPr>
        <p:spPr>
          <a:xfrm flipV="1">
            <a:off x="8259120" y="459828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3" name="Connector 63"/>
          <p:cNvCxnSpPr/>
          <p:nvPr/>
        </p:nvCxnSpPr>
        <p:spPr>
          <a:xfrm flipV="1">
            <a:off x="8342640" y="457884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4" name="Connector 64"/>
          <p:cNvCxnSpPr/>
          <p:nvPr/>
        </p:nvCxnSpPr>
        <p:spPr>
          <a:xfrm flipV="1">
            <a:off x="8426160" y="4559040"/>
            <a:ext cx="8388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5" name="Connector 65"/>
          <p:cNvCxnSpPr/>
          <p:nvPr/>
        </p:nvCxnSpPr>
        <p:spPr>
          <a:xfrm flipV="1">
            <a:off x="8509320" y="453960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6" name="Connector 66"/>
          <p:cNvCxnSpPr/>
          <p:nvPr/>
        </p:nvCxnSpPr>
        <p:spPr>
          <a:xfrm flipV="1">
            <a:off x="8592840" y="452016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7" name="Connector 67"/>
          <p:cNvCxnSpPr/>
          <p:nvPr/>
        </p:nvCxnSpPr>
        <p:spPr>
          <a:xfrm flipV="1">
            <a:off x="8676360" y="4500360"/>
            <a:ext cx="8424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8" name="Connector 68"/>
          <p:cNvCxnSpPr/>
          <p:nvPr/>
        </p:nvCxnSpPr>
        <p:spPr>
          <a:xfrm flipV="1">
            <a:off x="8759880" y="4480920"/>
            <a:ext cx="8388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79" name="Connector 69"/>
          <p:cNvCxnSpPr/>
          <p:nvPr/>
        </p:nvCxnSpPr>
        <p:spPr>
          <a:xfrm flipV="1">
            <a:off x="8843040" y="446148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0" name="Connector 70"/>
          <p:cNvCxnSpPr/>
          <p:nvPr/>
        </p:nvCxnSpPr>
        <p:spPr>
          <a:xfrm flipV="1">
            <a:off x="8926560" y="444204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1" name="Connector 71"/>
          <p:cNvCxnSpPr/>
          <p:nvPr/>
        </p:nvCxnSpPr>
        <p:spPr>
          <a:xfrm flipV="1">
            <a:off x="9010080" y="4422240"/>
            <a:ext cx="8424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2" name="Connector 72"/>
          <p:cNvCxnSpPr/>
          <p:nvPr/>
        </p:nvCxnSpPr>
        <p:spPr>
          <a:xfrm flipV="1">
            <a:off x="9093600" y="440280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3" name="Connector 73"/>
          <p:cNvCxnSpPr/>
          <p:nvPr/>
        </p:nvCxnSpPr>
        <p:spPr>
          <a:xfrm flipV="1">
            <a:off x="9177120" y="4383360"/>
            <a:ext cx="8388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4" name="Connector 74"/>
          <p:cNvCxnSpPr/>
          <p:nvPr/>
        </p:nvCxnSpPr>
        <p:spPr>
          <a:xfrm flipV="1">
            <a:off x="9260280" y="4363560"/>
            <a:ext cx="8424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5" name="Connector 75"/>
          <p:cNvCxnSpPr/>
          <p:nvPr/>
        </p:nvCxnSpPr>
        <p:spPr>
          <a:xfrm flipV="1">
            <a:off x="9343800" y="434412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6" name="Connector 76"/>
          <p:cNvCxnSpPr/>
          <p:nvPr/>
        </p:nvCxnSpPr>
        <p:spPr>
          <a:xfrm flipV="1">
            <a:off x="9427320" y="432468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7" name="Connector 77"/>
          <p:cNvCxnSpPr/>
          <p:nvPr/>
        </p:nvCxnSpPr>
        <p:spPr>
          <a:xfrm flipV="1">
            <a:off x="9510840" y="4304880"/>
            <a:ext cx="8388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8" name="Connector 78"/>
          <p:cNvCxnSpPr/>
          <p:nvPr/>
        </p:nvCxnSpPr>
        <p:spPr>
          <a:xfrm flipV="1">
            <a:off x="9594000" y="428544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89" name="Connector 79"/>
          <p:cNvCxnSpPr/>
          <p:nvPr/>
        </p:nvCxnSpPr>
        <p:spPr>
          <a:xfrm flipV="1">
            <a:off x="9677520" y="426600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0" name="Connector 80"/>
          <p:cNvCxnSpPr/>
          <p:nvPr/>
        </p:nvCxnSpPr>
        <p:spPr>
          <a:xfrm flipV="1">
            <a:off x="9761040" y="424656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1" name="Connector 81"/>
          <p:cNvCxnSpPr/>
          <p:nvPr/>
        </p:nvCxnSpPr>
        <p:spPr>
          <a:xfrm flipV="1">
            <a:off x="9844560" y="4226760"/>
            <a:ext cx="8424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2" name="Connector 82"/>
          <p:cNvCxnSpPr/>
          <p:nvPr/>
        </p:nvCxnSpPr>
        <p:spPr>
          <a:xfrm flipV="1">
            <a:off x="9928080" y="4207320"/>
            <a:ext cx="8388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3" name="Connector 83"/>
          <p:cNvCxnSpPr/>
          <p:nvPr/>
        </p:nvCxnSpPr>
        <p:spPr>
          <a:xfrm flipV="1">
            <a:off x="10011240" y="418788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4" name="Connector 84"/>
          <p:cNvCxnSpPr/>
          <p:nvPr/>
        </p:nvCxnSpPr>
        <p:spPr>
          <a:xfrm flipV="1">
            <a:off x="10094760" y="4168080"/>
            <a:ext cx="8424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5" name="Connector 85"/>
          <p:cNvCxnSpPr/>
          <p:nvPr/>
        </p:nvCxnSpPr>
        <p:spPr>
          <a:xfrm flipV="1">
            <a:off x="10178280" y="414864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6" name="Connector 86"/>
          <p:cNvCxnSpPr/>
          <p:nvPr/>
        </p:nvCxnSpPr>
        <p:spPr>
          <a:xfrm flipV="1">
            <a:off x="10261800" y="4129200"/>
            <a:ext cx="8388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7" name="Connector 87"/>
          <p:cNvCxnSpPr/>
          <p:nvPr/>
        </p:nvCxnSpPr>
        <p:spPr>
          <a:xfrm flipV="1">
            <a:off x="10344960" y="410976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8" name="Connector 88"/>
          <p:cNvCxnSpPr/>
          <p:nvPr/>
        </p:nvCxnSpPr>
        <p:spPr>
          <a:xfrm flipV="1">
            <a:off x="10428480" y="4089960"/>
            <a:ext cx="8424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199" name="Connector 89"/>
          <p:cNvCxnSpPr/>
          <p:nvPr/>
        </p:nvCxnSpPr>
        <p:spPr>
          <a:xfrm flipV="1">
            <a:off x="10512000" y="407052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0" name="Connector 90"/>
          <p:cNvCxnSpPr/>
          <p:nvPr/>
        </p:nvCxnSpPr>
        <p:spPr>
          <a:xfrm flipV="1">
            <a:off x="10595520" y="405108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1" name="Connector 91"/>
          <p:cNvCxnSpPr/>
          <p:nvPr/>
        </p:nvCxnSpPr>
        <p:spPr>
          <a:xfrm flipV="1">
            <a:off x="10679040" y="4031280"/>
            <a:ext cx="8388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2" name="Connector 92"/>
          <p:cNvCxnSpPr/>
          <p:nvPr/>
        </p:nvCxnSpPr>
        <p:spPr>
          <a:xfrm flipV="1">
            <a:off x="10762200" y="401184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3" name="Connector 93"/>
          <p:cNvCxnSpPr/>
          <p:nvPr/>
        </p:nvCxnSpPr>
        <p:spPr>
          <a:xfrm flipV="1">
            <a:off x="10845720" y="399240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4" name="Connector 94"/>
          <p:cNvCxnSpPr/>
          <p:nvPr/>
        </p:nvCxnSpPr>
        <p:spPr>
          <a:xfrm flipV="1">
            <a:off x="10929240" y="3972600"/>
            <a:ext cx="8424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5" name="Connector 95"/>
          <p:cNvCxnSpPr/>
          <p:nvPr/>
        </p:nvCxnSpPr>
        <p:spPr>
          <a:xfrm flipV="1">
            <a:off x="11012760" y="3953160"/>
            <a:ext cx="8388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6" name="Connector 96"/>
          <p:cNvCxnSpPr/>
          <p:nvPr/>
        </p:nvCxnSpPr>
        <p:spPr>
          <a:xfrm flipV="1">
            <a:off x="11095920" y="393372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7" name="Connector 97"/>
          <p:cNvCxnSpPr/>
          <p:nvPr/>
        </p:nvCxnSpPr>
        <p:spPr>
          <a:xfrm flipV="1">
            <a:off x="11179440" y="391428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8" name="Connector 98"/>
          <p:cNvCxnSpPr/>
          <p:nvPr/>
        </p:nvCxnSpPr>
        <p:spPr>
          <a:xfrm flipV="1">
            <a:off x="11262960" y="3894480"/>
            <a:ext cx="84240" cy="2052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cxnSp>
        <p:nvCxnSpPr>
          <p:cNvPr id="209" name="Connector 99"/>
          <p:cNvCxnSpPr/>
          <p:nvPr/>
        </p:nvCxnSpPr>
        <p:spPr>
          <a:xfrm flipV="1">
            <a:off x="11346480" y="3875040"/>
            <a:ext cx="84240" cy="20160"/>
          </a:xfrm>
          <a:prstGeom prst="straightConnector1">
            <a:avLst/>
          </a:prstGeom>
          <a:ln w="31750">
            <a:solidFill>
              <a:srgbClr val="1e2761"/>
            </a:solidFill>
            <a:round/>
          </a:ln>
        </p:spPr>
      </p:cxnSp>
      <p:sp>
        <p:nvSpPr>
          <p:cNvPr id="210" name="Rectangle 100"/>
          <p:cNvSpPr/>
          <p:nvPr/>
        </p:nvSpPr>
        <p:spPr>
          <a:xfrm>
            <a:off x="8275320" y="2194560"/>
            <a:ext cx="27360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101"/>
          <p:cNvSpPr/>
          <p:nvPr/>
        </p:nvSpPr>
        <p:spPr>
          <a:xfrm>
            <a:off x="8595360" y="214884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O(n²)  Transformer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102"/>
          <p:cNvSpPr/>
          <p:nvPr/>
        </p:nvSpPr>
        <p:spPr>
          <a:xfrm>
            <a:off x="8275320" y="2441520"/>
            <a:ext cx="273600" cy="45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Box 103"/>
          <p:cNvSpPr/>
          <p:nvPr/>
        </p:nvSpPr>
        <p:spPr>
          <a:xfrm>
            <a:off x="8595360" y="239580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O(n)   Mamba (selective SSM)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04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Quadratic-vs-linear scaling intuition (Gu &amp; Dao, 2023)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8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4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Motivation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Requirements for a modern sequence model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Rectangle 13"/>
          <p:cNvSpPr/>
          <p:nvPr/>
        </p:nvSpPr>
        <p:spPr>
          <a:xfrm>
            <a:off x="502920" y="1920240"/>
            <a:ext cx="2017080" cy="2605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Rectangle 14"/>
          <p:cNvSpPr/>
          <p:nvPr/>
        </p:nvSpPr>
        <p:spPr>
          <a:xfrm>
            <a:off x="502920" y="1920240"/>
            <a:ext cx="2017080" cy="907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15"/>
          <p:cNvSpPr/>
          <p:nvPr/>
        </p:nvSpPr>
        <p:spPr>
          <a:xfrm>
            <a:off x="685800" y="2148840"/>
            <a:ext cx="1651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01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16"/>
          <p:cNvSpPr/>
          <p:nvPr/>
        </p:nvSpPr>
        <p:spPr>
          <a:xfrm>
            <a:off x="685800" y="2423160"/>
            <a:ext cx="1651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Linear time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17"/>
          <p:cNvSpPr/>
          <p:nvPr/>
        </p:nvSpPr>
        <p:spPr>
          <a:xfrm>
            <a:off x="685800" y="3017520"/>
            <a:ext cx="16513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Must scale O(n) with sequence length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18"/>
          <p:cNvSpPr/>
          <p:nvPr/>
        </p:nvSpPr>
        <p:spPr>
          <a:xfrm>
            <a:off x="2795040" y="1920240"/>
            <a:ext cx="2017080" cy="2605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Rectangle 19"/>
          <p:cNvSpPr/>
          <p:nvPr/>
        </p:nvSpPr>
        <p:spPr>
          <a:xfrm>
            <a:off x="2795040" y="1920240"/>
            <a:ext cx="2017080" cy="907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2977920" y="2148840"/>
            <a:ext cx="1651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02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21"/>
          <p:cNvSpPr/>
          <p:nvPr/>
        </p:nvSpPr>
        <p:spPr>
          <a:xfrm>
            <a:off x="2977920" y="2423160"/>
            <a:ext cx="1651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Long memory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22"/>
          <p:cNvSpPr/>
          <p:nvPr/>
        </p:nvSpPr>
        <p:spPr>
          <a:xfrm>
            <a:off x="2977920" y="3017520"/>
            <a:ext cx="16513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Capture long-range dependencies reliably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23"/>
          <p:cNvSpPr/>
          <p:nvPr/>
        </p:nvSpPr>
        <p:spPr>
          <a:xfrm>
            <a:off x="5087160" y="1920240"/>
            <a:ext cx="2017080" cy="2605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Rectangle 24"/>
          <p:cNvSpPr/>
          <p:nvPr/>
        </p:nvSpPr>
        <p:spPr>
          <a:xfrm>
            <a:off x="5087160" y="1920240"/>
            <a:ext cx="2017080" cy="907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25"/>
          <p:cNvSpPr/>
          <p:nvPr/>
        </p:nvSpPr>
        <p:spPr>
          <a:xfrm>
            <a:off x="5270040" y="2148840"/>
            <a:ext cx="1651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03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26"/>
          <p:cNvSpPr/>
          <p:nvPr/>
        </p:nvSpPr>
        <p:spPr>
          <a:xfrm>
            <a:off x="5270040" y="2423160"/>
            <a:ext cx="1651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Selectivity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27"/>
          <p:cNvSpPr/>
          <p:nvPr/>
        </p:nvSpPr>
        <p:spPr>
          <a:xfrm>
            <a:off x="5270040" y="3017520"/>
            <a:ext cx="16513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Decide what to keep or forget per token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28"/>
          <p:cNvSpPr/>
          <p:nvPr/>
        </p:nvSpPr>
        <p:spPr>
          <a:xfrm>
            <a:off x="7378920" y="1920240"/>
            <a:ext cx="2017080" cy="2605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Rectangle 29"/>
          <p:cNvSpPr/>
          <p:nvPr/>
        </p:nvSpPr>
        <p:spPr>
          <a:xfrm>
            <a:off x="7378920" y="1920240"/>
            <a:ext cx="2017080" cy="907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30"/>
          <p:cNvSpPr/>
          <p:nvPr/>
        </p:nvSpPr>
        <p:spPr>
          <a:xfrm>
            <a:off x="7561800" y="2148840"/>
            <a:ext cx="1651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04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31"/>
          <p:cNvSpPr/>
          <p:nvPr/>
        </p:nvSpPr>
        <p:spPr>
          <a:xfrm>
            <a:off x="7561800" y="2423160"/>
            <a:ext cx="1651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Constant state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32"/>
          <p:cNvSpPr/>
          <p:nvPr/>
        </p:nvSpPr>
        <p:spPr>
          <a:xfrm>
            <a:off x="7561800" y="3017520"/>
            <a:ext cx="16513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Bounded memory at inference time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33"/>
          <p:cNvSpPr/>
          <p:nvPr/>
        </p:nvSpPr>
        <p:spPr>
          <a:xfrm>
            <a:off x="9671040" y="1920240"/>
            <a:ext cx="2017080" cy="2605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34"/>
          <p:cNvSpPr/>
          <p:nvPr/>
        </p:nvSpPr>
        <p:spPr>
          <a:xfrm>
            <a:off x="9671040" y="1920240"/>
            <a:ext cx="2017080" cy="907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35"/>
          <p:cNvSpPr/>
          <p:nvPr/>
        </p:nvSpPr>
        <p:spPr>
          <a:xfrm>
            <a:off x="9853920" y="2148840"/>
            <a:ext cx="1651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05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36"/>
          <p:cNvSpPr/>
          <p:nvPr/>
        </p:nvSpPr>
        <p:spPr>
          <a:xfrm>
            <a:off x="9853920" y="2423160"/>
            <a:ext cx="1651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High throughput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37"/>
          <p:cNvSpPr/>
          <p:nvPr/>
        </p:nvSpPr>
        <p:spPr>
          <a:xfrm>
            <a:off x="9853920" y="3017520"/>
            <a:ext cx="16513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Practical for real generative AI workloads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38"/>
          <p:cNvSpPr/>
          <p:nvPr/>
        </p:nvSpPr>
        <p:spPr>
          <a:xfrm>
            <a:off x="640080" y="4937760"/>
            <a:ext cx="10910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400" b="1" i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Goal: match Transformer quality while scaling linearly in sequence length.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39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Gu &amp; Dao (2023) — Section 1, Introduction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57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5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State Space Models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Background  •  HiPPO  →  S4  →  Mamba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13"/>
          <p:cNvSpPr/>
          <p:nvPr/>
        </p:nvSpPr>
        <p:spPr>
          <a:xfrm>
            <a:off x="640080" y="1417320"/>
            <a:ext cx="594288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Continuous dynamical system, discretized for sequences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Treats input as a continuous signal, then discretized for neural networks.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Hidden state compresses entire history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Fixed-size state h_t carries information forward — no growing cache.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HiPPO and S4 laid the foundation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Provided principled long-range memory and efficient O(n) computation.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Linear time, constant memory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Theoretical edge over O(n²) attention.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But — content-agnostic dynamics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Fixed (A, B, C) parameters can't selectively focus or forget.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14"/>
          <p:cNvSpPr/>
          <p:nvPr/>
        </p:nvSpPr>
        <p:spPr>
          <a:xfrm>
            <a:off x="7132320" y="1417320"/>
            <a:ext cx="4571280" cy="438840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15"/>
          <p:cNvSpPr/>
          <p:nvPr/>
        </p:nvSpPr>
        <p:spPr>
          <a:xfrm>
            <a:off x="7406640" y="1645920"/>
            <a:ext cx="4022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Linear State Space Recurrence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6"/>
          <p:cNvSpPr/>
          <p:nvPr/>
        </p:nvSpPr>
        <p:spPr>
          <a:xfrm>
            <a:off x="7406640" y="210312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Continuous  (s4-style):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17"/>
          <p:cNvSpPr/>
          <p:nvPr/>
        </p:nvSpPr>
        <p:spPr>
          <a:xfrm>
            <a:off x="7589520" y="2423160"/>
            <a:ext cx="4022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0" i="1" u="none" strike="noStrike">
                <a:solidFill>
                  <a:srgbClr val="1f2937"/>
                </a:solidFill>
                <a:effectLst/>
                <a:uFillTx/>
                <a:latin typeface="Cambria"/>
              </a:rPr>
              <a:t>h′(t) = A · h(t) + B · x(t)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8"/>
          <p:cNvSpPr/>
          <p:nvPr/>
        </p:nvSpPr>
        <p:spPr>
          <a:xfrm>
            <a:off x="7589520" y="2834640"/>
            <a:ext cx="4022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0" i="1" u="none" strike="noStrike">
                <a:solidFill>
                  <a:srgbClr val="1f2937"/>
                </a:solidFill>
                <a:effectLst/>
                <a:uFillTx/>
                <a:latin typeface="Cambria"/>
              </a:rPr>
              <a:t>y(t)  = C · h(t)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ectangle 19"/>
          <p:cNvSpPr/>
          <p:nvPr/>
        </p:nvSpPr>
        <p:spPr>
          <a:xfrm>
            <a:off x="7406640" y="3429000"/>
            <a:ext cx="402264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20"/>
          <p:cNvSpPr/>
          <p:nvPr/>
        </p:nvSpPr>
        <p:spPr>
          <a:xfrm>
            <a:off x="7406640" y="361188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Discretized recurrence: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21"/>
          <p:cNvSpPr/>
          <p:nvPr/>
        </p:nvSpPr>
        <p:spPr>
          <a:xfrm>
            <a:off x="7589520" y="3931920"/>
            <a:ext cx="4022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0" i="1" u="none" strike="noStrike">
                <a:solidFill>
                  <a:srgbClr val="1f2937"/>
                </a:solidFill>
                <a:effectLst/>
                <a:uFillTx/>
                <a:latin typeface="Cambria"/>
              </a:rPr>
              <a:t>h_t = A̅ · h_{t-1} + B̅ · x_t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22"/>
          <p:cNvSpPr/>
          <p:nvPr/>
        </p:nvSpPr>
        <p:spPr>
          <a:xfrm>
            <a:off x="7589520" y="4343400"/>
            <a:ext cx="4022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0" i="1" u="none" strike="noStrike">
                <a:solidFill>
                  <a:srgbClr val="1f2937"/>
                </a:solidFill>
                <a:effectLst/>
                <a:uFillTx/>
                <a:latin typeface="Cambria"/>
              </a:rPr>
              <a:t>y_t = C · h_t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23"/>
          <p:cNvSpPr/>
          <p:nvPr/>
        </p:nvSpPr>
        <p:spPr>
          <a:xfrm>
            <a:off x="7406640" y="5074920"/>
            <a:ext cx="4022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0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Linear in n, constant memory — but A, B, C are fixed (input-independent).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4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Gu et al. (S4, HiPPO) — foundations cited in Mamba (Gu &amp; Dao, 2023)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1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6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 Innovation — Selective SSM (S6)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Input-dependent parameters enable content-based reasoning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0" name="Picture 13" descr="fig1_selective_ssm.png"/>
          <p:cNvPicPr/>
          <p:nvPr/>
        </p:nvPicPr>
        <p:blipFill>
          <a:blip r:embed="rId2"/>
          <a:stretch/>
        </p:blipFill>
        <p:spPr>
          <a:xfrm>
            <a:off x="640080" y="1371600"/>
            <a:ext cx="7588800" cy="338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Box 14"/>
          <p:cNvSpPr/>
          <p:nvPr/>
        </p:nvSpPr>
        <p:spPr>
          <a:xfrm>
            <a:off x="8412480" y="1417320"/>
            <a:ext cx="3336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What changed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15"/>
          <p:cNvSpPr/>
          <p:nvPr/>
        </p:nvSpPr>
        <p:spPr>
          <a:xfrm>
            <a:off x="8412480" y="1828800"/>
            <a:ext cx="333684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B, C, Δ become functions of the current input token x_t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Model can selectively propagate or forget information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Solves the content-blindness of prior fixed SSMs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Hardware-aware scan keeps the recurrence efficient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16"/>
          <p:cNvSpPr/>
          <p:nvPr/>
        </p:nvSpPr>
        <p:spPr>
          <a:xfrm>
            <a:off x="8412480" y="4434840"/>
            <a:ext cx="3336840" cy="118800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17"/>
          <p:cNvSpPr/>
          <p:nvPr/>
        </p:nvSpPr>
        <p:spPr>
          <a:xfrm>
            <a:off x="8595360" y="4599360"/>
            <a:ext cx="2971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Selection mechanism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8"/>
          <p:cNvSpPr/>
          <p:nvPr/>
        </p:nvSpPr>
        <p:spPr>
          <a:xfrm>
            <a:off x="8595360" y="4818960"/>
            <a:ext cx="2971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Input-dependent dynamics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19"/>
          <p:cNvSpPr/>
          <p:nvPr/>
        </p:nvSpPr>
        <p:spPr>
          <a:xfrm>
            <a:off x="8595360" y="5074920"/>
            <a:ext cx="2971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0" i="1" u="none" strike="noStrike">
                <a:solidFill>
                  <a:srgbClr val="1f2937"/>
                </a:solidFill>
                <a:effectLst/>
                <a:uFillTx/>
                <a:latin typeface="Cambria"/>
              </a:rPr>
              <a:t>B_t , C_t , Δ_t  =  s(x_t)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20"/>
          <p:cNvSpPr/>
          <p:nvPr/>
        </p:nvSpPr>
        <p:spPr>
          <a:xfrm>
            <a:off x="8595360" y="5422320"/>
            <a:ext cx="2971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Parameters depend on the current input.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21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Figure 1, Gu &amp; Dao (2023) — Selective State Space Model overview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2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7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 Block — Simplified Architecture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No attention, no separate MLP — repeated homogeneous block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1" name="Picture 13" descr="fig3_architecture.png"/>
          <p:cNvPicPr/>
          <p:nvPr/>
        </p:nvPicPr>
        <p:blipFill>
          <a:blip r:embed="rId2"/>
          <a:stretch/>
        </p:blipFill>
        <p:spPr>
          <a:xfrm>
            <a:off x="502920" y="1417320"/>
            <a:ext cx="7497360" cy="317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TextBox 14"/>
          <p:cNvSpPr/>
          <p:nvPr/>
        </p:nvSpPr>
        <p:spPr>
          <a:xfrm>
            <a:off x="8275320" y="1463040"/>
            <a:ext cx="3474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Design choices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15"/>
          <p:cNvSpPr/>
          <p:nvPr/>
        </p:nvSpPr>
        <p:spPr>
          <a:xfrm>
            <a:off x="8275320" y="1874520"/>
            <a:ext cx="34740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Combines H3 + Gated MLP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Selective SSM merged with the gated-MLP idea into one block.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No attention mechanism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Recurrent computation replaces self-attention entirely.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Hardware-aware parallel scan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Custom CUDA scan keeps the recurrence GPU-efficient.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Linear scaling end-to-end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Time and memory grow linearly with sequence length.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16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Figure 3, Gu &amp; Dao (2023) — H3, Gated MLP, and Mamba block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8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8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Paper Benchmark Methodology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Multi-modal evaluation across language, audio, and DNA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Rectangle 13"/>
          <p:cNvSpPr/>
          <p:nvPr/>
        </p:nvSpPr>
        <p:spPr>
          <a:xfrm>
            <a:off x="502920" y="1508760"/>
            <a:ext cx="2624400" cy="3108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8" name="Rectangle 14"/>
          <p:cNvSpPr/>
          <p:nvPr/>
        </p:nvSpPr>
        <p:spPr>
          <a:xfrm>
            <a:off x="502920" y="1508760"/>
            <a:ext cx="90720" cy="310824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Box 15"/>
          <p:cNvSpPr/>
          <p:nvPr/>
        </p:nvSpPr>
        <p:spPr>
          <a:xfrm>
            <a:off x="777240" y="1737360"/>
            <a:ext cx="2258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Language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16"/>
          <p:cNvSpPr/>
          <p:nvPr/>
        </p:nvSpPr>
        <p:spPr>
          <a:xfrm>
            <a:off x="777240" y="2194560"/>
            <a:ext cx="2258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The Pile  •  300B tokens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ectangle 17"/>
          <p:cNvSpPr/>
          <p:nvPr/>
        </p:nvSpPr>
        <p:spPr>
          <a:xfrm>
            <a:off x="777240" y="2514600"/>
            <a:ext cx="207576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Box 18"/>
          <p:cNvSpPr/>
          <p:nvPr/>
        </p:nvSpPr>
        <p:spPr>
          <a:xfrm>
            <a:off x="777240" y="2651760"/>
            <a:ext cx="216720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Pretraining perplexity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Zero-shot downstream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Models 125M – 2.8B params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Rectangle 19"/>
          <p:cNvSpPr/>
          <p:nvPr/>
        </p:nvSpPr>
        <p:spPr>
          <a:xfrm>
            <a:off x="3356640" y="1508760"/>
            <a:ext cx="2624400" cy="3108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Rectangle 20"/>
          <p:cNvSpPr/>
          <p:nvPr/>
        </p:nvSpPr>
        <p:spPr>
          <a:xfrm>
            <a:off x="3356640" y="1508760"/>
            <a:ext cx="90720" cy="310824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Box 21"/>
          <p:cNvSpPr/>
          <p:nvPr/>
        </p:nvSpPr>
        <p:spPr>
          <a:xfrm>
            <a:off x="3630960" y="1737360"/>
            <a:ext cx="2258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Long-Range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22"/>
          <p:cNvSpPr/>
          <p:nvPr/>
        </p:nvSpPr>
        <p:spPr>
          <a:xfrm>
            <a:off x="3630960" y="2194560"/>
            <a:ext cx="2258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LRA &amp; induction heads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ectangle 23"/>
          <p:cNvSpPr/>
          <p:nvPr/>
        </p:nvSpPr>
        <p:spPr>
          <a:xfrm>
            <a:off x="3630960" y="2514600"/>
            <a:ext cx="207576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TextBox 24"/>
          <p:cNvSpPr/>
          <p:nvPr/>
        </p:nvSpPr>
        <p:spPr>
          <a:xfrm>
            <a:off x="3630960" y="2651760"/>
            <a:ext cx="216720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Synthetic copying tasks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Sequence length up to 1M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Tests selectivity directly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Rectangle 25"/>
          <p:cNvSpPr/>
          <p:nvPr/>
        </p:nvSpPr>
        <p:spPr>
          <a:xfrm>
            <a:off x="6210000" y="1508760"/>
            <a:ext cx="2624400" cy="3108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0" name="Rectangle 26"/>
          <p:cNvSpPr/>
          <p:nvPr/>
        </p:nvSpPr>
        <p:spPr>
          <a:xfrm>
            <a:off x="6210000" y="1508760"/>
            <a:ext cx="90720" cy="310824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Box 27"/>
          <p:cNvSpPr/>
          <p:nvPr/>
        </p:nvSpPr>
        <p:spPr>
          <a:xfrm>
            <a:off x="6484320" y="1737360"/>
            <a:ext cx="2258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Audio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28"/>
          <p:cNvSpPr/>
          <p:nvPr/>
        </p:nvSpPr>
        <p:spPr>
          <a:xfrm>
            <a:off x="6484320" y="2194560"/>
            <a:ext cx="2258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SC09  •  YouTubeMix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Rectangle 29"/>
          <p:cNvSpPr/>
          <p:nvPr/>
        </p:nvSpPr>
        <p:spPr>
          <a:xfrm>
            <a:off x="6484320" y="2514600"/>
            <a:ext cx="207576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Box 30"/>
          <p:cNvSpPr/>
          <p:nvPr/>
        </p:nvSpPr>
        <p:spPr>
          <a:xfrm>
            <a:off x="6484320" y="2651760"/>
            <a:ext cx="216720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Autoregressive bits-per-byte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Sample quality (FID, IS)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Sequence length up to 1M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Rectangle 31"/>
          <p:cNvSpPr/>
          <p:nvPr/>
        </p:nvSpPr>
        <p:spPr>
          <a:xfrm>
            <a:off x="9063720" y="1508760"/>
            <a:ext cx="2624400" cy="3108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6" name="Rectangle 32"/>
          <p:cNvSpPr/>
          <p:nvPr/>
        </p:nvSpPr>
        <p:spPr>
          <a:xfrm>
            <a:off x="9063720" y="1508760"/>
            <a:ext cx="90720" cy="310824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TextBox 33"/>
          <p:cNvSpPr/>
          <p:nvPr/>
        </p:nvSpPr>
        <p:spPr>
          <a:xfrm>
            <a:off x="9338040" y="1737360"/>
            <a:ext cx="2258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DNA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34"/>
          <p:cNvSpPr/>
          <p:nvPr/>
        </p:nvSpPr>
        <p:spPr>
          <a:xfrm>
            <a:off x="9338040" y="2194560"/>
            <a:ext cx="2258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HG38  •  GenomicsBenchmark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Rectangle 35"/>
          <p:cNvSpPr/>
          <p:nvPr/>
        </p:nvSpPr>
        <p:spPr>
          <a:xfrm>
            <a:off x="9338040" y="2514600"/>
            <a:ext cx="207576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Box 36"/>
          <p:cNvSpPr/>
          <p:nvPr/>
        </p:nvSpPr>
        <p:spPr>
          <a:xfrm>
            <a:off x="9338040" y="2651760"/>
            <a:ext cx="216720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Bits-per-byte on genomes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Species classification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400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Sequence length up to 1M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37"/>
          <p:cNvSpPr/>
          <p:nvPr/>
        </p:nvSpPr>
        <p:spPr>
          <a:xfrm>
            <a:off x="502920" y="484632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Reported metrics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38"/>
          <p:cNvSpPr/>
          <p:nvPr/>
        </p:nvSpPr>
        <p:spPr>
          <a:xfrm>
            <a:off x="502920" y="513900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Perplexity   •   Bits-per-byte   •   Zero-shot accuracy   •   Inference throughput (tok/s)   •   Memory consumption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Box 39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Gu &amp; Dao (2023) — Section 4 (Empirical Evaluation)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6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7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8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9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0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9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Key Results from the Paper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Mamba matches Transformer quality at linear cost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6" name="Rectangle 13"/>
          <p:cNvSpPr/>
          <p:nvPr/>
        </p:nvSpPr>
        <p:spPr>
          <a:xfrm>
            <a:off x="502920" y="1417320"/>
            <a:ext cx="2624400" cy="1005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Box 14"/>
          <p:cNvSpPr/>
          <p:nvPr/>
        </p:nvSpPr>
        <p:spPr>
          <a:xfrm>
            <a:off x="685800" y="1508760"/>
            <a:ext cx="2258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5×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15"/>
          <p:cNvSpPr/>
          <p:nvPr/>
        </p:nvSpPr>
        <p:spPr>
          <a:xfrm>
            <a:off x="685800" y="2011680"/>
            <a:ext cx="2258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higher inference throughput at long context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Rectangle 16"/>
          <p:cNvSpPr/>
          <p:nvPr/>
        </p:nvSpPr>
        <p:spPr>
          <a:xfrm>
            <a:off x="3356640" y="1417320"/>
            <a:ext cx="2624400" cy="1005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TextBox 17"/>
          <p:cNvSpPr/>
          <p:nvPr/>
        </p:nvSpPr>
        <p:spPr>
          <a:xfrm>
            <a:off x="3539520" y="1508760"/>
            <a:ext cx="2258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O(n)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18"/>
          <p:cNvSpPr/>
          <p:nvPr/>
        </p:nvSpPr>
        <p:spPr>
          <a:xfrm>
            <a:off x="3539520" y="2011680"/>
            <a:ext cx="2258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linear scaling in sequence length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Rectangle 19"/>
          <p:cNvSpPr/>
          <p:nvPr/>
        </p:nvSpPr>
        <p:spPr>
          <a:xfrm>
            <a:off x="6210000" y="1417320"/>
            <a:ext cx="2624400" cy="1005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20"/>
          <p:cNvSpPr/>
          <p:nvPr/>
        </p:nvSpPr>
        <p:spPr>
          <a:xfrm>
            <a:off x="6392880" y="1508760"/>
            <a:ext cx="2258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≈2×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21"/>
          <p:cNvSpPr/>
          <p:nvPr/>
        </p:nvSpPr>
        <p:spPr>
          <a:xfrm>
            <a:off x="6392880" y="2011680"/>
            <a:ext cx="2258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Mamba-3B approaches Transformer quality at lower compute cost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Rectangle 22"/>
          <p:cNvSpPr/>
          <p:nvPr/>
        </p:nvSpPr>
        <p:spPr>
          <a:xfrm>
            <a:off x="9063720" y="1417320"/>
            <a:ext cx="2624400" cy="1005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Box 23"/>
          <p:cNvSpPr/>
          <p:nvPr/>
        </p:nvSpPr>
        <p:spPr>
          <a:xfrm>
            <a:off x="9246600" y="1508760"/>
            <a:ext cx="2258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≥1M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24"/>
          <p:cNvSpPr/>
          <p:nvPr/>
        </p:nvSpPr>
        <p:spPr>
          <a:xfrm>
            <a:off x="9246600" y="2011680"/>
            <a:ext cx="2258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sequence lengths show continued gains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8" name="Picture 25" descr="fig4_scaling_laws.png"/>
          <p:cNvPicPr/>
          <p:nvPr/>
        </p:nvPicPr>
        <p:blipFill>
          <a:blip r:embed="rId2"/>
          <a:stretch/>
        </p:blipFill>
        <p:spPr>
          <a:xfrm>
            <a:off x="1188720" y="2697480"/>
            <a:ext cx="9783360" cy="180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TextBox 26"/>
          <p:cNvSpPr/>
          <p:nvPr/>
        </p:nvSpPr>
        <p:spPr>
          <a:xfrm>
            <a:off x="502920" y="544068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Pretraining scaling laws on The Pile — Mamba is the first attention-free model to match Transformer++.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27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Figure 4, Gu &amp; Dao (2023) — Scaling Laws on The Pile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84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10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 vs Transformer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Architectural and computational trade-offs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Rectangle 13"/>
          <p:cNvSpPr/>
          <p:nvPr/>
        </p:nvSpPr>
        <p:spPr>
          <a:xfrm>
            <a:off x="640080" y="1508760"/>
            <a:ext cx="319968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Aspect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14"/>
          <p:cNvSpPr/>
          <p:nvPr/>
        </p:nvSpPr>
        <p:spPr>
          <a:xfrm>
            <a:off x="3840480" y="1508760"/>
            <a:ext cx="383976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Transformer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Rectangle 15"/>
          <p:cNvSpPr/>
          <p:nvPr/>
        </p:nvSpPr>
        <p:spPr>
          <a:xfrm>
            <a:off x="7680960" y="1508760"/>
            <a:ext cx="383976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Mamba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Rectangle 16"/>
          <p:cNvSpPr/>
          <p:nvPr/>
        </p:nvSpPr>
        <p:spPr>
          <a:xfrm>
            <a:off x="640080" y="2075760"/>
            <a:ext cx="3199680" cy="566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Time complexity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Rectangle 17"/>
          <p:cNvSpPr/>
          <p:nvPr/>
        </p:nvSpPr>
        <p:spPr>
          <a:xfrm>
            <a:off x="3840480" y="2075760"/>
            <a:ext cx="3839760" cy="56628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O(n²) attention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Rectangle 18"/>
          <p:cNvSpPr/>
          <p:nvPr/>
        </p:nvSpPr>
        <p:spPr>
          <a:xfrm>
            <a:off x="7680960" y="2075760"/>
            <a:ext cx="3839760" cy="5662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O(n) selective scan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ectangle 19"/>
          <p:cNvSpPr/>
          <p:nvPr/>
        </p:nvSpPr>
        <p:spPr>
          <a:xfrm>
            <a:off x="640080" y="2642760"/>
            <a:ext cx="3199680" cy="566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Memory at inference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Rectangle 20"/>
          <p:cNvSpPr/>
          <p:nvPr/>
        </p:nvSpPr>
        <p:spPr>
          <a:xfrm>
            <a:off x="3840480" y="2642760"/>
            <a:ext cx="3839760" cy="56628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KV-cache grows with 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Rectangle 21"/>
          <p:cNvSpPr/>
          <p:nvPr/>
        </p:nvSpPr>
        <p:spPr>
          <a:xfrm>
            <a:off x="7680960" y="2642760"/>
            <a:ext cx="3839760" cy="5662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Constant-size hidden state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Rectangle 22"/>
          <p:cNvSpPr/>
          <p:nvPr/>
        </p:nvSpPr>
        <p:spPr>
          <a:xfrm>
            <a:off x="640080" y="3209400"/>
            <a:ext cx="3199680" cy="566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Long-context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Rectangle 23"/>
          <p:cNvSpPr/>
          <p:nvPr/>
        </p:nvSpPr>
        <p:spPr>
          <a:xfrm>
            <a:off x="3840480" y="3209400"/>
            <a:ext cx="3839760" cy="56628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Degrades sharply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24"/>
          <p:cNvSpPr/>
          <p:nvPr/>
        </p:nvSpPr>
        <p:spPr>
          <a:xfrm>
            <a:off x="7680960" y="3209400"/>
            <a:ext cx="3839760" cy="5662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Linear, well-behaved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Rectangle 25"/>
          <p:cNvSpPr/>
          <p:nvPr/>
        </p:nvSpPr>
        <p:spPr>
          <a:xfrm>
            <a:off x="640080" y="3776400"/>
            <a:ext cx="3199680" cy="566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Core mechanism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Rectangle 26"/>
          <p:cNvSpPr/>
          <p:nvPr/>
        </p:nvSpPr>
        <p:spPr>
          <a:xfrm>
            <a:off x="3840480" y="3776400"/>
            <a:ext cx="3839760" cy="56628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Self-attention + FFN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Rectangle 27"/>
          <p:cNvSpPr/>
          <p:nvPr/>
        </p:nvSpPr>
        <p:spPr>
          <a:xfrm>
            <a:off x="7680960" y="3776400"/>
            <a:ext cx="3839760" cy="5662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Selective SSM (S6)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Rectangle 28"/>
          <p:cNvSpPr/>
          <p:nvPr/>
        </p:nvSpPr>
        <p:spPr>
          <a:xfrm>
            <a:off x="640080" y="4343400"/>
            <a:ext cx="3199680" cy="566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Quality (paper)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Rectangle 29"/>
          <p:cNvSpPr/>
          <p:nvPr/>
        </p:nvSpPr>
        <p:spPr>
          <a:xfrm>
            <a:off x="3840480" y="4343400"/>
            <a:ext cx="3839760" cy="56628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Strong baseline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Rectangle 30"/>
          <p:cNvSpPr/>
          <p:nvPr/>
        </p:nvSpPr>
        <p:spPr>
          <a:xfrm>
            <a:off x="7680960" y="4343400"/>
            <a:ext cx="3839760" cy="5662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Matches / exceeds same size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Box 31"/>
          <p:cNvSpPr/>
          <p:nvPr/>
        </p:nvSpPr>
        <p:spPr>
          <a:xfrm>
            <a:off x="640080" y="5440680"/>
            <a:ext cx="10910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400" b="1" i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Same modeling power at fundamentally different cost curves.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32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Summary based on Gu &amp; Dao (2023)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4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5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6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8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9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11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3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Limitations of Mamba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Honest critical analysis from the paper and follow-up work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5" name="Rectangle 13"/>
          <p:cNvSpPr/>
          <p:nvPr/>
        </p:nvSpPr>
        <p:spPr>
          <a:xfrm>
            <a:off x="502920" y="1463040"/>
            <a:ext cx="5485680" cy="1233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Rectangle 14"/>
          <p:cNvSpPr/>
          <p:nvPr/>
        </p:nvSpPr>
        <p:spPr>
          <a:xfrm>
            <a:off x="502920" y="1463040"/>
            <a:ext cx="72360" cy="1233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7" name="TextBox 15"/>
          <p:cNvSpPr/>
          <p:nvPr/>
        </p:nvSpPr>
        <p:spPr>
          <a:xfrm>
            <a:off x="777240" y="162756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01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16"/>
          <p:cNvSpPr/>
          <p:nvPr/>
        </p:nvSpPr>
        <p:spPr>
          <a:xfrm>
            <a:off x="777240" y="18745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Weaker exact state tracking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17"/>
          <p:cNvSpPr/>
          <p:nvPr/>
        </p:nvSpPr>
        <p:spPr>
          <a:xfrm>
            <a:off x="777240" y="2240280"/>
            <a:ext cx="5028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Some retrieval and copy tasks favor attention's direct lookup.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ectangle 18"/>
          <p:cNvSpPr/>
          <p:nvPr/>
        </p:nvSpPr>
        <p:spPr>
          <a:xfrm>
            <a:off x="502920" y="2880360"/>
            <a:ext cx="5485680" cy="1233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Rectangle 19"/>
          <p:cNvSpPr/>
          <p:nvPr/>
        </p:nvSpPr>
        <p:spPr>
          <a:xfrm>
            <a:off x="502920" y="2880360"/>
            <a:ext cx="72360" cy="1233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2" name="TextBox 20"/>
          <p:cNvSpPr/>
          <p:nvPr/>
        </p:nvSpPr>
        <p:spPr>
          <a:xfrm>
            <a:off x="777240" y="304488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21"/>
          <p:cNvSpPr/>
          <p:nvPr/>
        </p:nvSpPr>
        <p:spPr>
          <a:xfrm>
            <a:off x="777240" y="329184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Hardware kernel dependence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22"/>
          <p:cNvSpPr/>
          <p:nvPr/>
        </p:nvSpPr>
        <p:spPr>
          <a:xfrm>
            <a:off x="777240" y="3657600"/>
            <a:ext cx="5028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Custom CUDA scan is essential — no efficient CPU path.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Rectangle 23"/>
          <p:cNvSpPr/>
          <p:nvPr/>
        </p:nvSpPr>
        <p:spPr>
          <a:xfrm>
            <a:off x="502920" y="4297680"/>
            <a:ext cx="5485680" cy="1233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6" name="Rectangle 24"/>
          <p:cNvSpPr/>
          <p:nvPr/>
        </p:nvSpPr>
        <p:spPr>
          <a:xfrm>
            <a:off x="502920" y="4297680"/>
            <a:ext cx="72360" cy="1233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7" name="TextBox 25"/>
          <p:cNvSpPr/>
          <p:nvPr/>
        </p:nvSpPr>
        <p:spPr>
          <a:xfrm>
            <a:off x="777240" y="446220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03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26"/>
          <p:cNvSpPr/>
          <p:nvPr/>
        </p:nvSpPr>
        <p:spPr>
          <a:xfrm>
            <a:off x="777240" y="47091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Overhead at short sequences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27"/>
          <p:cNvSpPr/>
          <p:nvPr/>
        </p:nvSpPr>
        <p:spPr>
          <a:xfrm>
            <a:off x="777240" y="5074920"/>
            <a:ext cx="5028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Selective mechanism only pays off above ~1k tokens.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Rectangle 28"/>
          <p:cNvSpPr/>
          <p:nvPr/>
        </p:nvSpPr>
        <p:spPr>
          <a:xfrm>
            <a:off x="6263640" y="1463040"/>
            <a:ext cx="5485680" cy="1233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Rectangle 29"/>
          <p:cNvSpPr/>
          <p:nvPr/>
        </p:nvSpPr>
        <p:spPr>
          <a:xfrm>
            <a:off x="6263640" y="1463040"/>
            <a:ext cx="72360" cy="1233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2" name="TextBox 30"/>
          <p:cNvSpPr/>
          <p:nvPr/>
        </p:nvSpPr>
        <p:spPr>
          <a:xfrm>
            <a:off x="6537960" y="162756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04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31"/>
          <p:cNvSpPr/>
          <p:nvPr/>
        </p:nvSpPr>
        <p:spPr>
          <a:xfrm>
            <a:off x="6537960" y="18745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Less mature ecosystem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32"/>
          <p:cNvSpPr/>
          <p:nvPr/>
        </p:nvSpPr>
        <p:spPr>
          <a:xfrm>
            <a:off x="6537960" y="2240280"/>
            <a:ext cx="5028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Tooling, pretrained checkpoints, and tutorials still catching up.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Rectangle 33"/>
          <p:cNvSpPr/>
          <p:nvPr/>
        </p:nvSpPr>
        <p:spPr>
          <a:xfrm>
            <a:off x="6263640" y="2880360"/>
            <a:ext cx="5485680" cy="12337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Rectangle 34"/>
          <p:cNvSpPr/>
          <p:nvPr/>
        </p:nvSpPr>
        <p:spPr>
          <a:xfrm>
            <a:off x="6263640" y="2880360"/>
            <a:ext cx="72360" cy="1233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Box 35"/>
          <p:cNvSpPr/>
          <p:nvPr/>
        </p:nvSpPr>
        <p:spPr>
          <a:xfrm>
            <a:off x="6537960" y="3044880"/>
            <a:ext cx="547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05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36"/>
          <p:cNvSpPr/>
          <p:nvPr/>
        </p:nvSpPr>
        <p:spPr>
          <a:xfrm>
            <a:off x="6537960" y="329184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Single-modality focus in original paper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37"/>
          <p:cNvSpPr/>
          <p:nvPr/>
        </p:nvSpPr>
        <p:spPr>
          <a:xfrm>
            <a:off x="6537960" y="3657600"/>
            <a:ext cx="5028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Strongest evidence is on language; broader modalities follow up later.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38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Discussion in Gu &amp; Dao (2023) and follow-up SSM literature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2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4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6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8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12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1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Our Reproduction Approach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Scope, comparison, and what we set out to validate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3" name="Rectangle 13"/>
          <p:cNvSpPr/>
          <p:nvPr/>
        </p:nvSpPr>
        <p:spPr>
          <a:xfrm>
            <a:off x="502920" y="1417320"/>
            <a:ext cx="2624400" cy="1005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4" name="TextBox 14"/>
          <p:cNvSpPr/>
          <p:nvPr/>
        </p:nvSpPr>
        <p:spPr>
          <a:xfrm>
            <a:off x="685800" y="1527120"/>
            <a:ext cx="2258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Mamba-130M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15"/>
          <p:cNvSpPr/>
          <p:nvPr/>
        </p:nvSpPr>
        <p:spPr>
          <a:xfrm>
            <a:off x="685800" y="1984320"/>
            <a:ext cx="2258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vs GPT-2 Transformer baseline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Rectangle 16"/>
          <p:cNvSpPr/>
          <p:nvPr/>
        </p:nvSpPr>
        <p:spPr>
          <a:xfrm>
            <a:off x="3356640" y="1417320"/>
            <a:ext cx="2624400" cy="1005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7" name="TextBox 17"/>
          <p:cNvSpPr/>
          <p:nvPr/>
        </p:nvSpPr>
        <p:spPr>
          <a:xfrm>
            <a:off x="3539520" y="1527120"/>
            <a:ext cx="2258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The Pile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18"/>
          <p:cNvSpPr/>
          <p:nvPr/>
        </p:nvSpPr>
        <p:spPr>
          <a:xfrm>
            <a:off x="3539520" y="1984320"/>
            <a:ext cx="2258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subset, GPT-NeoX tokenizer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Rectangle 19"/>
          <p:cNvSpPr/>
          <p:nvPr/>
        </p:nvSpPr>
        <p:spPr>
          <a:xfrm>
            <a:off x="6210000" y="1417320"/>
            <a:ext cx="2624400" cy="1005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TextBox 20"/>
          <p:cNvSpPr/>
          <p:nvPr/>
        </p:nvSpPr>
        <p:spPr>
          <a:xfrm>
            <a:off x="6392880" y="1527120"/>
            <a:ext cx="22586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BF16 / A100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21"/>
          <p:cNvSpPr/>
          <p:nvPr/>
        </p:nvSpPr>
        <p:spPr>
          <a:xfrm>
            <a:off x="6392880" y="1984320"/>
            <a:ext cx="2258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single-GPU training &amp; benchmarking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Rectangle 22"/>
          <p:cNvSpPr/>
          <p:nvPr/>
        </p:nvSpPr>
        <p:spPr>
          <a:xfrm>
            <a:off x="9063720" y="1417320"/>
            <a:ext cx="2624400" cy="1005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3" name="TextBox 23"/>
          <p:cNvSpPr/>
          <p:nvPr/>
        </p:nvSpPr>
        <p:spPr>
          <a:xfrm>
            <a:off x="9246600" y="1527120"/>
            <a:ext cx="225864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512 → 8192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24"/>
          <p:cNvSpPr/>
          <p:nvPr/>
        </p:nvSpPr>
        <p:spPr>
          <a:xfrm>
            <a:off x="9246600" y="1984320"/>
            <a:ext cx="2258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sequence-length scaling sweep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Rectangle 25"/>
          <p:cNvSpPr/>
          <p:nvPr/>
        </p:nvSpPr>
        <p:spPr>
          <a:xfrm>
            <a:off x="777240" y="2926080"/>
            <a:ext cx="1995120" cy="127944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6" name="TextBox 26"/>
          <p:cNvSpPr/>
          <p:nvPr/>
        </p:nvSpPr>
        <p:spPr>
          <a:xfrm>
            <a:off x="960120" y="3017520"/>
            <a:ext cx="162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Step 1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27"/>
          <p:cNvSpPr/>
          <p:nvPr/>
        </p:nvSpPr>
        <p:spPr>
          <a:xfrm>
            <a:off x="960120" y="3291840"/>
            <a:ext cx="1629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Tokenize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28"/>
          <p:cNvSpPr/>
          <p:nvPr/>
        </p:nvSpPr>
        <p:spPr>
          <a:xfrm>
            <a:off x="960120" y="3703320"/>
            <a:ext cx="16293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subset of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The Pile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Box 29"/>
          <p:cNvSpPr/>
          <p:nvPr/>
        </p:nvSpPr>
        <p:spPr>
          <a:xfrm>
            <a:off x="2782080" y="3429000"/>
            <a:ext cx="20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400" b="0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▶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Rectangle 30"/>
          <p:cNvSpPr/>
          <p:nvPr/>
        </p:nvSpPr>
        <p:spPr>
          <a:xfrm>
            <a:off x="2937600" y="2926080"/>
            <a:ext cx="1995120" cy="1279440"/>
          </a:xfrm>
          <a:prstGeom prst="rect">
            <a:avLst/>
          </a:prstGeom>
          <a:solidFill>
            <a:srgbClr val="141b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1" name="TextBox 31"/>
          <p:cNvSpPr/>
          <p:nvPr/>
        </p:nvSpPr>
        <p:spPr>
          <a:xfrm>
            <a:off x="3120480" y="3017520"/>
            <a:ext cx="162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Step 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Box 32"/>
          <p:cNvSpPr/>
          <p:nvPr/>
        </p:nvSpPr>
        <p:spPr>
          <a:xfrm>
            <a:off x="3120480" y="3291840"/>
            <a:ext cx="1629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Train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33"/>
          <p:cNvSpPr/>
          <p:nvPr/>
        </p:nvSpPr>
        <p:spPr>
          <a:xfrm>
            <a:off x="3120480" y="3703320"/>
            <a:ext cx="16293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Mamba &amp; GPT-2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baselines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34"/>
          <p:cNvSpPr/>
          <p:nvPr/>
        </p:nvSpPr>
        <p:spPr>
          <a:xfrm>
            <a:off x="4942440" y="3429000"/>
            <a:ext cx="20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400" b="0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▶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Rectangle 35"/>
          <p:cNvSpPr/>
          <p:nvPr/>
        </p:nvSpPr>
        <p:spPr>
          <a:xfrm>
            <a:off x="5097960" y="2926080"/>
            <a:ext cx="1995120" cy="127944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TextBox 36"/>
          <p:cNvSpPr/>
          <p:nvPr/>
        </p:nvSpPr>
        <p:spPr>
          <a:xfrm>
            <a:off x="5280840" y="3017520"/>
            <a:ext cx="162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Step 3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Box 37"/>
          <p:cNvSpPr/>
          <p:nvPr/>
        </p:nvSpPr>
        <p:spPr>
          <a:xfrm>
            <a:off x="5280840" y="3291840"/>
            <a:ext cx="1629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Evaluate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Box 38"/>
          <p:cNvSpPr/>
          <p:nvPr/>
        </p:nvSpPr>
        <p:spPr>
          <a:xfrm>
            <a:off x="5280840" y="3703320"/>
            <a:ext cx="16293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perplexity, BPB,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generation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Box 39"/>
          <p:cNvSpPr/>
          <p:nvPr/>
        </p:nvSpPr>
        <p:spPr>
          <a:xfrm>
            <a:off x="7102800" y="3429000"/>
            <a:ext cx="20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400" b="0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▶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Rectangle 40"/>
          <p:cNvSpPr/>
          <p:nvPr/>
        </p:nvSpPr>
        <p:spPr>
          <a:xfrm>
            <a:off x="7258320" y="2926080"/>
            <a:ext cx="1995120" cy="1279440"/>
          </a:xfrm>
          <a:prstGeom prst="rect">
            <a:avLst/>
          </a:prstGeom>
          <a:solidFill>
            <a:srgbClr val="141b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Box 41"/>
          <p:cNvSpPr/>
          <p:nvPr/>
        </p:nvSpPr>
        <p:spPr>
          <a:xfrm>
            <a:off x="7441200" y="3017520"/>
            <a:ext cx="162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Step 4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Box 42"/>
          <p:cNvSpPr/>
          <p:nvPr/>
        </p:nvSpPr>
        <p:spPr>
          <a:xfrm>
            <a:off x="7441200" y="3291840"/>
            <a:ext cx="1629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Benchmark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43"/>
          <p:cNvSpPr/>
          <p:nvPr/>
        </p:nvSpPr>
        <p:spPr>
          <a:xfrm>
            <a:off x="7441200" y="3703320"/>
            <a:ext cx="16293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throughput &amp;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memory sweep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Box 44"/>
          <p:cNvSpPr/>
          <p:nvPr/>
        </p:nvSpPr>
        <p:spPr>
          <a:xfrm>
            <a:off x="9263160" y="3429000"/>
            <a:ext cx="20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400" b="0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▶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Rectangle 45"/>
          <p:cNvSpPr/>
          <p:nvPr/>
        </p:nvSpPr>
        <p:spPr>
          <a:xfrm>
            <a:off x="9418680" y="2926080"/>
            <a:ext cx="1995120" cy="127944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TextBox 46"/>
          <p:cNvSpPr/>
          <p:nvPr/>
        </p:nvSpPr>
        <p:spPr>
          <a:xfrm>
            <a:off x="9601560" y="3017520"/>
            <a:ext cx="1629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Step 5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Box 47"/>
          <p:cNvSpPr/>
          <p:nvPr/>
        </p:nvSpPr>
        <p:spPr>
          <a:xfrm>
            <a:off x="9601560" y="3291840"/>
            <a:ext cx="16293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Compare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Box 48"/>
          <p:cNvSpPr/>
          <p:nvPr/>
        </p:nvSpPr>
        <p:spPr>
          <a:xfrm>
            <a:off x="9601560" y="3703320"/>
            <a:ext cx="16293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validate paper's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claims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49"/>
          <p:cNvSpPr/>
          <p:nvPr/>
        </p:nvSpPr>
        <p:spPr>
          <a:xfrm>
            <a:off x="640080" y="5029200"/>
            <a:ext cx="10910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i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Goal: empirically test the paper's central claim — linear scaling at long context.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Box 50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Project repository: seriouslysahid/genai-mamba-assignment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2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04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6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8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13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Implementation Setup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Hardware, libraries, and model configurations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Rectangle 13"/>
          <p:cNvSpPr/>
          <p:nvPr/>
        </p:nvSpPr>
        <p:spPr>
          <a:xfrm>
            <a:off x="502920" y="1417320"/>
            <a:ext cx="5577120" cy="42055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4" name="Rectangle 14"/>
          <p:cNvSpPr/>
          <p:nvPr/>
        </p:nvSpPr>
        <p:spPr>
          <a:xfrm>
            <a:off x="502920" y="1417320"/>
            <a:ext cx="557712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TextBox 15"/>
          <p:cNvSpPr/>
          <p:nvPr/>
        </p:nvSpPr>
        <p:spPr>
          <a:xfrm>
            <a:off x="731520" y="1508760"/>
            <a:ext cx="5119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Software &amp; Hardware Stack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Rectangle 16"/>
          <p:cNvSpPr/>
          <p:nvPr/>
        </p:nvSpPr>
        <p:spPr>
          <a:xfrm>
            <a:off x="594360" y="2011680"/>
            <a:ext cx="5394240" cy="36504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Box 17"/>
          <p:cNvSpPr/>
          <p:nvPr/>
        </p:nvSpPr>
        <p:spPr>
          <a:xfrm>
            <a:off x="777240" y="205740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Hardware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18"/>
          <p:cNvSpPr/>
          <p:nvPr/>
        </p:nvSpPr>
        <p:spPr>
          <a:xfrm>
            <a:off x="2834640" y="205740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NVIDIA A100-SXM4-80GB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Box 19"/>
          <p:cNvSpPr/>
          <p:nvPr/>
        </p:nvSpPr>
        <p:spPr>
          <a:xfrm>
            <a:off x="777240" y="242316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Precision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Box 20"/>
          <p:cNvSpPr/>
          <p:nvPr/>
        </p:nvSpPr>
        <p:spPr>
          <a:xfrm>
            <a:off x="2834640" y="242316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BF16 (bfloat16)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Rectangle 21"/>
          <p:cNvSpPr/>
          <p:nvPr/>
        </p:nvSpPr>
        <p:spPr>
          <a:xfrm>
            <a:off x="594360" y="2743200"/>
            <a:ext cx="5394240" cy="36504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2" name="TextBox 22"/>
          <p:cNvSpPr/>
          <p:nvPr/>
        </p:nvSpPr>
        <p:spPr>
          <a:xfrm>
            <a:off x="777240" y="278892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Framework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Box 23"/>
          <p:cNvSpPr/>
          <p:nvPr/>
        </p:nvSpPr>
        <p:spPr>
          <a:xfrm>
            <a:off x="2834640" y="278892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PyTorch 2.6 + CUDA 12.6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Box 24"/>
          <p:cNvSpPr/>
          <p:nvPr/>
        </p:nvSpPr>
        <p:spPr>
          <a:xfrm>
            <a:off x="777240" y="315468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 library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25"/>
          <p:cNvSpPr/>
          <p:nvPr/>
        </p:nvSpPr>
        <p:spPr>
          <a:xfrm>
            <a:off x="2834640" y="315468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mamba-ssm 2.2.4 + causal-conv1d 1.5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Rectangle 26"/>
          <p:cNvSpPr/>
          <p:nvPr/>
        </p:nvSpPr>
        <p:spPr>
          <a:xfrm>
            <a:off x="594360" y="3474720"/>
            <a:ext cx="5394240" cy="36504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7" name="TextBox 27"/>
          <p:cNvSpPr/>
          <p:nvPr/>
        </p:nvSpPr>
        <p:spPr>
          <a:xfrm>
            <a:off x="777240" y="352044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Tokenizer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Box 28"/>
          <p:cNvSpPr/>
          <p:nvPr/>
        </p:nvSpPr>
        <p:spPr>
          <a:xfrm>
            <a:off x="2834640" y="352044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EleutherAI/gpt-neox-20b  (50,277 vocab)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Box 29"/>
          <p:cNvSpPr/>
          <p:nvPr/>
        </p:nvSpPr>
        <p:spPr>
          <a:xfrm>
            <a:off x="777240" y="388620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Dataset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30"/>
          <p:cNvSpPr/>
          <p:nvPr/>
        </p:nvSpPr>
        <p:spPr>
          <a:xfrm>
            <a:off x="2834640" y="388620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monology/pile-uncopyrighted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31"/>
          <p:cNvSpPr/>
          <p:nvPr/>
        </p:nvSpPr>
        <p:spPr>
          <a:xfrm>
            <a:off x="594360" y="4206240"/>
            <a:ext cx="5394240" cy="36504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32"/>
          <p:cNvSpPr/>
          <p:nvPr/>
        </p:nvSpPr>
        <p:spPr>
          <a:xfrm>
            <a:off x="777240" y="425196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Token shards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33"/>
          <p:cNvSpPr/>
          <p:nvPr/>
        </p:nvSpPr>
        <p:spPr>
          <a:xfrm>
            <a:off x="2834640" y="425196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train: 427.4M  •  val: 6.6M  (uint16)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Box 34"/>
          <p:cNvSpPr/>
          <p:nvPr/>
        </p:nvSpPr>
        <p:spPr>
          <a:xfrm>
            <a:off x="777240" y="461772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Codebase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Box 35"/>
          <p:cNvSpPr/>
          <p:nvPr/>
        </p:nvSpPr>
        <p:spPr>
          <a:xfrm>
            <a:off x="2834640" y="4617720"/>
            <a:ext cx="30625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seriouslysahid/genai-mamba-assignment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Rectangle 36"/>
          <p:cNvSpPr/>
          <p:nvPr/>
        </p:nvSpPr>
        <p:spPr>
          <a:xfrm>
            <a:off x="6217920" y="1417320"/>
            <a:ext cx="5485680" cy="42055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Rectangle 37"/>
          <p:cNvSpPr/>
          <p:nvPr/>
        </p:nvSpPr>
        <p:spPr>
          <a:xfrm>
            <a:off x="6217920" y="1417320"/>
            <a:ext cx="548568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Box 38"/>
          <p:cNvSpPr/>
          <p:nvPr/>
        </p:nvSpPr>
        <p:spPr>
          <a:xfrm>
            <a:off x="6446520" y="15087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 Configurations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Rectangle 39"/>
          <p:cNvSpPr/>
          <p:nvPr/>
        </p:nvSpPr>
        <p:spPr>
          <a:xfrm>
            <a:off x="6355080" y="2103120"/>
            <a:ext cx="2536920" cy="333684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0" name="TextBox 40"/>
          <p:cNvSpPr/>
          <p:nvPr/>
        </p:nvSpPr>
        <p:spPr>
          <a:xfrm>
            <a:off x="6537960" y="2240280"/>
            <a:ext cx="2171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Mamba-130M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Box 41"/>
          <p:cNvSpPr/>
          <p:nvPr/>
        </p:nvSpPr>
        <p:spPr>
          <a:xfrm>
            <a:off x="6537960" y="2606040"/>
            <a:ext cx="2171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129.1M parameters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Box 42"/>
          <p:cNvSpPr/>
          <p:nvPr/>
        </p:nvSpPr>
        <p:spPr>
          <a:xfrm>
            <a:off x="6537960" y="3017520"/>
            <a:ext cx="2171160" cy="257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24 layers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d_model = 768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d_state = 16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RMSNorm + tied embeddings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20,000 training steps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Batch 4 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seq_len 2048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expand = 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lr = 6e-4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grad_accum = 4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Rectangle 43"/>
          <p:cNvSpPr/>
          <p:nvPr/>
        </p:nvSpPr>
        <p:spPr>
          <a:xfrm>
            <a:off x="9029880" y="2103120"/>
            <a:ext cx="2536920" cy="333684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Box 44"/>
          <p:cNvSpPr/>
          <p:nvPr/>
        </p:nvSpPr>
        <p:spPr>
          <a:xfrm>
            <a:off x="9212760" y="2240280"/>
            <a:ext cx="2171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Transformer-130M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Box 45"/>
          <p:cNvSpPr/>
          <p:nvPr/>
        </p:nvSpPr>
        <p:spPr>
          <a:xfrm>
            <a:off x="9212760" y="2606040"/>
            <a:ext cx="2171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125.2M parameters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Box 46"/>
          <p:cNvSpPr/>
          <p:nvPr/>
        </p:nvSpPr>
        <p:spPr>
          <a:xfrm>
            <a:off x="9212760" y="3017520"/>
            <a:ext cx="2171160" cy="21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GPT-2 architecture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12 layers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d_model = 768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12 attention heads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20,000 training steps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Batch 4 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seq_len 2048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12 attention heads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dropout = 0.1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lr = 6e-4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3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0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grad_accum = 4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Box 47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scripts/train_mamba.py — see DEFAULTS, MAMBA_CFG, TRANSFORMER_CFG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9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0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1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3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4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5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14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8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Training Budget &amp; Fairness Notes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Identical optimization config across both models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0" name="Rectangle 13"/>
          <p:cNvSpPr/>
          <p:nvPr/>
        </p:nvSpPr>
        <p:spPr>
          <a:xfrm>
            <a:off x="1615320" y="1600200"/>
            <a:ext cx="2102400" cy="5295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Rectangle 14"/>
          <p:cNvSpPr/>
          <p:nvPr/>
        </p:nvSpPr>
        <p:spPr>
          <a:xfrm>
            <a:off x="3718440" y="1600200"/>
            <a:ext cx="1553760" cy="5295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Batch Size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Rectangle 15"/>
          <p:cNvSpPr/>
          <p:nvPr/>
        </p:nvSpPr>
        <p:spPr>
          <a:xfrm>
            <a:off x="5272920" y="1600200"/>
            <a:ext cx="1553760" cy="5295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Steps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Rectangle 16"/>
          <p:cNvSpPr/>
          <p:nvPr/>
        </p:nvSpPr>
        <p:spPr>
          <a:xfrm>
            <a:off x="6827400" y="1600200"/>
            <a:ext cx="1370880" cy="5295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Seq Len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Rectangle 17"/>
          <p:cNvSpPr/>
          <p:nvPr/>
        </p:nvSpPr>
        <p:spPr>
          <a:xfrm>
            <a:off x="8199000" y="1600200"/>
            <a:ext cx="2376720" cy="5295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Approx Tokens Seen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Rectangle 18"/>
          <p:cNvSpPr/>
          <p:nvPr/>
        </p:nvSpPr>
        <p:spPr>
          <a:xfrm>
            <a:off x="1615320" y="2130480"/>
            <a:ext cx="2102400" cy="5295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Rectangle 19"/>
          <p:cNvSpPr/>
          <p:nvPr/>
        </p:nvSpPr>
        <p:spPr>
          <a:xfrm>
            <a:off x="3718440" y="2130480"/>
            <a:ext cx="1553760" cy="5295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4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Rectangle 20"/>
          <p:cNvSpPr/>
          <p:nvPr/>
        </p:nvSpPr>
        <p:spPr>
          <a:xfrm>
            <a:off x="5272920" y="2130480"/>
            <a:ext cx="1553760" cy="5295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20,000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Rectangle 21"/>
          <p:cNvSpPr/>
          <p:nvPr/>
        </p:nvSpPr>
        <p:spPr>
          <a:xfrm>
            <a:off x="6827400" y="2130480"/>
            <a:ext cx="1370880" cy="5295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2048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Rectangle 22"/>
          <p:cNvSpPr/>
          <p:nvPr/>
        </p:nvSpPr>
        <p:spPr>
          <a:xfrm>
            <a:off x="8199000" y="2130480"/>
            <a:ext cx="2376720" cy="5295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≈ 163.8 M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Rectangle 23"/>
          <p:cNvSpPr/>
          <p:nvPr/>
        </p:nvSpPr>
        <p:spPr>
          <a:xfrm>
            <a:off x="1615320" y="2660760"/>
            <a:ext cx="2102400" cy="52956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Transformer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Rectangle 24"/>
          <p:cNvSpPr/>
          <p:nvPr/>
        </p:nvSpPr>
        <p:spPr>
          <a:xfrm>
            <a:off x="3718440" y="2660760"/>
            <a:ext cx="1553760" cy="52956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4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Rectangle 25"/>
          <p:cNvSpPr/>
          <p:nvPr/>
        </p:nvSpPr>
        <p:spPr>
          <a:xfrm>
            <a:off x="5272920" y="2660760"/>
            <a:ext cx="1553760" cy="52956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20,000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Rectangle 26"/>
          <p:cNvSpPr/>
          <p:nvPr/>
        </p:nvSpPr>
        <p:spPr>
          <a:xfrm>
            <a:off x="6827400" y="2660760"/>
            <a:ext cx="1370880" cy="52956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2048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Rectangle 27"/>
          <p:cNvSpPr/>
          <p:nvPr/>
        </p:nvSpPr>
        <p:spPr>
          <a:xfrm>
            <a:off x="8199000" y="2660760"/>
            <a:ext cx="2376720" cy="529560"/>
          </a:xfrm>
          <a:prstGeom prst="rect">
            <a:avLst/>
          </a:prstGeom>
          <a:solidFill>
            <a:srgbClr val="fdf2f2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9000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≈ 163.8 M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Rectangle 28"/>
          <p:cNvSpPr/>
          <p:nvPr/>
        </p:nvSpPr>
        <p:spPr>
          <a:xfrm>
            <a:off x="914400" y="3703320"/>
            <a:ext cx="10362240" cy="118800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6" name="Rectangle 29"/>
          <p:cNvSpPr/>
          <p:nvPr/>
        </p:nvSpPr>
        <p:spPr>
          <a:xfrm>
            <a:off x="914400" y="3703320"/>
            <a:ext cx="90720" cy="1188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7" name="TextBox 30"/>
          <p:cNvSpPr/>
          <p:nvPr/>
        </p:nvSpPr>
        <p:spPr>
          <a:xfrm>
            <a:off x="1188720" y="3840480"/>
            <a:ext cx="981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Matched optimization configuration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Box 31"/>
          <p:cNvSpPr/>
          <p:nvPr/>
        </p:nvSpPr>
        <p:spPr>
          <a:xfrm>
            <a:off x="1188720" y="4160520"/>
            <a:ext cx="98136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i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Both models trained with identical batch size, optimizer steps, sequence length, and token budget. This eliminates batch-size and step-count as confounding variables in the quality comparison.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Rectangle 32"/>
          <p:cNvSpPr/>
          <p:nvPr/>
        </p:nvSpPr>
        <p:spPr>
          <a:xfrm>
            <a:off x="502920" y="5166360"/>
            <a:ext cx="2658600" cy="776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0" name="Rectangle 33"/>
          <p:cNvSpPr/>
          <p:nvPr/>
        </p:nvSpPr>
        <p:spPr>
          <a:xfrm>
            <a:off x="502920" y="5166360"/>
            <a:ext cx="72360" cy="7765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1" name="TextBox 34"/>
          <p:cNvSpPr/>
          <p:nvPr/>
        </p:nvSpPr>
        <p:spPr>
          <a:xfrm>
            <a:off x="685800" y="5257800"/>
            <a:ext cx="2292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Same data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Box 35"/>
          <p:cNvSpPr/>
          <p:nvPr/>
        </p:nvSpPr>
        <p:spPr>
          <a:xfrm>
            <a:off x="685800" y="5532120"/>
            <a:ext cx="2292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identical Pile shard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Rectangle 36"/>
          <p:cNvSpPr/>
          <p:nvPr/>
        </p:nvSpPr>
        <p:spPr>
          <a:xfrm>
            <a:off x="3345120" y="5166360"/>
            <a:ext cx="2658600" cy="776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4" name="Rectangle 37"/>
          <p:cNvSpPr/>
          <p:nvPr/>
        </p:nvSpPr>
        <p:spPr>
          <a:xfrm>
            <a:off x="3345120" y="5166360"/>
            <a:ext cx="72360" cy="7765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Box 38"/>
          <p:cNvSpPr/>
          <p:nvPr/>
        </p:nvSpPr>
        <p:spPr>
          <a:xfrm>
            <a:off x="3528000" y="5257800"/>
            <a:ext cx="2292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Same tokenizer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Box 39"/>
          <p:cNvSpPr/>
          <p:nvPr/>
        </p:nvSpPr>
        <p:spPr>
          <a:xfrm>
            <a:off x="3528000" y="5532120"/>
            <a:ext cx="2292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GPT-NeoX  •  50,277 vocab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Rectangle 40"/>
          <p:cNvSpPr/>
          <p:nvPr/>
        </p:nvSpPr>
        <p:spPr>
          <a:xfrm>
            <a:off x="6187320" y="5166360"/>
            <a:ext cx="2658600" cy="776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8" name="Rectangle 41"/>
          <p:cNvSpPr/>
          <p:nvPr/>
        </p:nvSpPr>
        <p:spPr>
          <a:xfrm>
            <a:off x="6187320" y="5166360"/>
            <a:ext cx="72360" cy="7765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9" name="TextBox 42"/>
          <p:cNvSpPr/>
          <p:nvPr/>
        </p:nvSpPr>
        <p:spPr>
          <a:xfrm>
            <a:off x="6370200" y="5257800"/>
            <a:ext cx="2292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Same precision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43"/>
          <p:cNvSpPr/>
          <p:nvPr/>
        </p:nvSpPr>
        <p:spPr>
          <a:xfrm>
            <a:off x="6370200" y="5532120"/>
            <a:ext cx="2292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BF16 on a single A100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Rectangle 44"/>
          <p:cNvSpPr/>
          <p:nvPr/>
        </p:nvSpPr>
        <p:spPr>
          <a:xfrm>
            <a:off x="9029520" y="5166360"/>
            <a:ext cx="2658600" cy="776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2" name="Rectangle 45"/>
          <p:cNvSpPr/>
          <p:nvPr/>
        </p:nvSpPr>
        <p:spPr>
          <a:xfrm>
            <a:off x="9029520" y="5166360"/>
            <a:ext cx="72360" cy="7765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3" name="TextBox 46"/>
          <p:cNvSpPr/>
          <p:nvPr/>
        </p:nvSpPr>
        <p:spPr>
          <a:xfrm>
            <a:off x="9212400" y="5257800"/>
            <a:ext cx="229284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Same sequence length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Box 47"/>
          <p:cNvSpPr/>
          <p:nvPr/>
        </p:nvSpPr>
        <p:spPr>
          <a:xfrm>
            <a:off x="9212400" y="5532120"/>
            <a:ext cx="2292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2048 tokens during training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6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7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98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0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1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2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15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5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Training &amp; Evaluation Workflow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Five-stage pipeline from raw data to plots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7" name="Rectangle 13"/>
          <p:cNvSpPr/>
          <p:nvPr/>
        </p:nvSpPr>
        <p:spPr>
          <a:xfrm>
            <a:off x="502920" y="1554480"/>
            <a:ext cx="2090160" cy="2285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8" name="Rectangle 14"/>
          <p:cNvSpPr/>
          <p:nvPr/>
        </p:nvSpPr>
        <p:spPr>
          <a:xfrm>
            <a:off x="502920" y="1554480"/>
            <a:ext cx="209016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Box 15"/>
          <p:cNvSpPr/>
          <p:nvPr/>
        </p:nvSpPr>
        <p:spPr>
          <a:xfrm>
            <a:off x="685800" y="1664280"/>
            <a:ext cx="1724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Stage 1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Box 16"/>
          <p:cNvSpPr/>
          <p:nvPr/>
        </p:nvSpPr>
        <p:spPr>
          <a:xfrm>
            <a:off x="685800" y="2148840"/>
            <a:ext cx="1724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Prepare data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Box 17"/>
          <p:cNvSpPr/>
          <p:nvPr/>
        </p:nvSpPr>
        <p:spPr>
          <a:xfrm>
            <a:off x="685800" y="2560320"/>
            <a:ext cx="1724400" cy="5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Stream The Pile 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Tokenize into uint16 binary  shards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Rectangle 18"/>
          <p:cNvSpPr/>
          <p:nvPr/>
        </p:nvSpPr>
        <p:spPr>
          <a:xfrm>
            <a:off x="685800" y="3429000"/>
            <a:ext cx="17244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3" name="TextBox 19"/>
          <p:cNvSpPr/>
          <p:nvPr/>
        </p:nvSpPr>
        <p:spPr>
          <a:xfrm>
            <a:off x="685800" y="3474720"/>
            <a:ext cx="172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1f2937"/>
                </a:solidFill>
                <a:effectLst/>
                <a:uFillTx/>
                <a:latin typeface="Consolas"/>
              </a:rPr>
              <a:t>prepare_data.py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Rectangle 20"/>
          <p:cNvSpPr/>
          <p:nvPr/>
        </p:nvSpPr>
        <p:spPr>
          <a:xfrm>
            <a:off x="2776680" y="1554480"/>
            <a:ext cx="2090160" cy="2285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5" name="Rectangle 21"/>
          <p:cNvSpPr/>
          <p:nvPr/>
        </p:nvSpPr>
        <p:spPr>
          <a:xfrm>
            <a:off x="2776680" y="1554480"/>
            <a:ext cx="209016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6" name="TextBox 22"/>
          <p:cNvSpPr/>
          <p:nvPr/>
        </p:nvSpPr>
        <p:spPr>
          <a:xfrm>
            <a:off x="2959560" y="1664280"/>
            <a:ext cx="1724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Stage 2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Box 23"/>
          <p:cNvSpPr/>
          <p:nvPr/>
        </p:nvSpPr>
        <p:spPr>
          <a:xfrm>
            <a:off x="2959560" y="2148840"/>
            <a:ext cx="1724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Train models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Box 24"/>
          <p:cNvSpPr/>
          <p:nvPr/>
        </p:nvSpPr>
        <p:spPr>
          <a:xfrm>
            <a:off x="2959560" y="2560320"/>
            <a:ext cx="172440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Using BF16 on A100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Logging Loss, Validation Perplexity and Throughput 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Rectangle 25"/>
          <p:cNvSpPr/>
          <p:nvPr/>
        </p:nvSpPr>
        <p:spPr>
          <a:xfrm>
            <a:off x="2959560" y="3429000"/>
            <a:ext cx="17244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0" name="TextBox 26"/>
          <p:cNvSpPr/>
          <p:nvPr/>
        </p:nvSpPr>
        <p:spPr>
          <a:xfrm>
            <a:off x="2959560" y="3474720"/>
            <a:ext cx="172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1f2937"/>
                </a:solidFill>
                <a:effectLst/>
                <a:uFillTx/>
                <a:latin typeface="Consolas"/>
              </a:rPr>
              <a:t>train_mamba.py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Rectangle 27"/>
          <p:cNvSpPr/>
          <p:nvPr/>
        </p:nvSpPr>
        <p:spPr>
          <a:xfrm>
            <a:off x="5050440" y="1554480"/>
            <a:ext cx="2090160" cy="2285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2" name="Rectangle 28"/>
          <p:cNvSpPr/>
          <p:nvPr/>
        </p:nvSpPr>
        <p:spPr>
          <a:xfrm>
            <a:off x="5050440" y="1554480"/>
            <a:ext cx="209016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3" name="TextBox 29"/>
          <p:cNvSpPr/>
          <p:nvPr/>
        </p:nvSpPr>
        <p:spPr>
          <a:xfrm>
            <a:off x="5233320" y="1664280"/>
            <a:ext cx="1724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Stage 3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Box 30"/>
          <p:cNvSpPr/>
          <p:nvPr/>
        </p:nvSpPr>
        <p:spPr>
          <a:xfrm>
            <a:off x="5233320" y="2148840"/>
            <a:ext cx="1724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Evaluate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31"/>
          <p:cNvSpPr/>
          <p:nvPr/>
        </p:nvSpPr>
        <p:spPr>
          <a:xfrm>
            <a:off x="5233320" y="2560320"/>
            <a:ext cx="172440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1) Held-out Perplexity</a:t>
            </a: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	</a:t>
            </a: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 2) Bits-Per-Byte </a:t>
            </a: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	</a:t>
            </a: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	</a:t>
            </a: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3) Sample Generations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Rectangle 32"/>
          <p:cNvSpPr/>
          <p:nvPr/>
        </p:nvSpPr>
        <p:spPr>
          <a:xfrm>
            <a:off x="5233320" y="3429000"/>
            <a:ext cx="17244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TextBox 33"/>
          <p:cNvSpPr/>
          <p:nvPr/>
        </p:nvSpPr>
        <p:spPr>
          <a:xfrm>
            <a:off x="5233320" y="3474720"/>
            <a:ext cx="172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1f2937"/>
                </a:solidFill>
                <a:effectLst/>
                <a:uFillTx/>
                <a:latin typeface="Consolas"/>
              </a:rPr>
              <a:t>evaluate_mamba.py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Rectangle 34"/>
          <p:cNvSpPr/>
          <p:nvPr/>
        </p:nvSpPr>
        <p:spPr>
          <a:xfrm>
            <a:off x="7324200" y="1554480"/>
            <a:ext cx="2090160" cy="2285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9" name="Rectangle 35"/>
          <p:cNvSpPr/>
          <p:nvPr/>
        </p:nvSpPr>
        <p:spPr>
          <a:xfrm>
            <a:off x="7324200" y="1554480"/>
            <a:ext cx="209016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0" name="TextBox 36"/>
          <p:cNvSpPr/>
          <p:nvPr/>
        </p:nvSpPr>
        <p:spPr>
          <a:xfrm>
            <a:off x="7507080" y="1664280"/>
            <a:ext cx="1724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Stage 4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Box 37"/>
          <p:cNvSpPr/>
          <p:nvPr/>
        </p:nvSpPr>
        <p:spPr>
          <a:xfrm>
            <a:off x="7507080" y="2148840"/>
            <a:ext cx="1724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Benchmark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Box 38"/>
          <p:cNvSpPr/>
          <p:nvPr/>
        </p:nvSpPr>
        <p:spPr>
          <a:xfrm>
            <a:off x="7507080" y="2560320"/>
            <a:ext cx="172440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Sweep sequence lengths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512 to 4096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Measure tokens/second and peak memory used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Rectangle 39"/>
          <p:cNvSpPr/>
          <p:nvPr/>
        </p:nvSpPr>
        <p:spPr>
          <a:xfrm>
            <a:off x="7507080" y="3429000"/>
            <a:ext cx="17244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4" name="TextBox 40"/>
          <p:cNvSpPr/>
          <p:nvPr/>
        </p:nvSpPr>
        <p:spPr>
          <a:xfrm>
            <a:off x="7507080" y="3474720"/>
            <a:ext cx="172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1f2937"/>
                </a:solidFill>
                <a:effectLst/>
                <a:uFillTx/>
                <a:latin typeface="Consolas"/>
              </a:rPr>
              <a:t>benchmark_mamba.py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Rectangle 41"/>
          <p:cNvSpPr/>
          <p:nvPr/>
        </p:nvSpPr>
        <p:spPr>
          <a:xfrm>
            <a:off x="9597960" y="1554480"/>
            <a:ext cx="2090160" cy="2285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6" name="Rectangle 42"/>
          <p:cNvSpPr/>
          <p:nvPr/>
        </p:nvSpPr>
        <p:spPr>
          <a:xfrm>
            <a:off x="9597960" y="1554480"/>
            <a:ext cx="209016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7" name="TextBox 43"/>
          <p:cNvSpPr/>
          <p:nvPr/>
        </p:nvSpPr>
        <p:spPr>
          <a:xfrm>
            <a:off x="9780840" y="1664280"/>
            <a:ext cx="1724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Stage 5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Box 44"/>
          <p:cNvSpPr/>
          <p:nvPr/>
        </p:nvSpPr>
        <p:spPr>
          <a:xfrm>
            <a:off x="9780840" y="2148840"/>
            <a:ext cx="1724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Plot results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Box 45"/>
          <p:cNvSpPr/>
          <p:nvPr/>
        </p:nvSpPr>
        <p:spPr>
          <a:xfrm>
            <a:off x="9780840" y="2560320"/>
            <a:ext cx="172440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Training curves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Throughput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Memory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4b5563"/>
              </a:buClr>
              <a:buFont typeface="OpenSymbol"/>
              <a:buAutoNum type="arabicParenR"/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Speedup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Rectangle 46"/>
          <p:cNvSpPr/>
          <p:nvPr/>
        </p:nvSpPr>
        <p:spPr>
          <a:xfrm>
            <a:off x="9780840" y="3429000"/>
            <a:ext cx="17244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Box 47"/>
          <p:cNvSpPr/>
          <p:nvPr/>
        </p:nvSpPr>
        <p:spPr>
          <a:xfrm>
            <a:off x="9780840" y="3474720"/>
            <a:ext cx="172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1f2937"/>
                </a:solidFill>
                <a:effectLst/>
                <a:uFillTx/>
                <a:latin typeface="Consolas"/>
              </a:rPr>
              <a:t>plot_results.py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Box 48"/>
          <p:cNvSpPr/>
          <p:nvPr/>
        </p:nvSpPr>
        <p:spPr>
          <a:xfrm>
            <a:off x="502920" y="420624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Logged at every stage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Box 49"/>
          <p:cNvSpPr/>
          <p:nvPr/>
        </p:nvSpPr>
        <p:spPr>
          <a:xfrm>
            <a:off x="502920" y="44989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training loss   •   validation perplexity   •   bits-per-byte   •   tokens / second   •   peak GPU memory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Rectangle 50"/>
          <p:cNvSpPr/>
          <p:nvPr/>
        </p:nvSpPr>
        <p:spPr>
          <a:xfrm>
            <a:off x="502920" y="5074920"/>
            <a:ext cx="11185200" cy="4564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TextBox 51"/>
          <p:cNvSpPr/>
          <p:nvPr/>
        </p:nvSpPr>
        <p:spPr>
          <a:xfrm>
            <a:off x="685800" y="5139000"/>
            <a:ext cx="10819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onsolas"/>
              </a:rPr>
              <a:t>Outputs:  out/mamba_log.json   •   out/transformer_log.json   •   out/*_eval.json   •   out/benchmark_results.json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Box 52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Scripts in scripts/ ; outputs land in out/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8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9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50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1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2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3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4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16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Our Benchmark Results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Final summary  •  Mamba vs Transformer  •  same parameter budget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59" name="Picture 13" descr="final_summary_table.png"/>
          <p:cNvPicPr/>
          <p:nvPr/>
        </p:nvPicPr>
        <p:blipFill>
          <a:blip r:embed="rId2"/>
          <a:stretch/>
        </p:blipFill>
        <p:spPr>
          <a:xfrm>
            <a:off x="502920" y="1508760"/>
            <a:ext cx="6765840" cy="274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0" name="TextBox 14"/>
          <p:cNvSpPr/>
          <p:nvPr/>
        </p:nvSpPr>
        <p:spPr>
          <a:xfrm>
            <a:off x="7498080" y="1508760"/>
            <a:ext cx="4251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Headline numbers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Rectangle 15"/>
          <p:cNvSpPr/>
          <p:nvPr/>
        </p:nvSpPr>
        <p:spPr>
          <a:xfrm>
            <a:off x="7498080" y="1965960"/>
            <a:ext cx="4251240" cy="959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2" name="Rectangle 16"/>
          <p:cNvSpPr/>
          <p:nvPr/>
        </p:nvSpPr>
        <p:spPr>
          <a:xfrm>
            <a:off x="7498080" y="1965960"/>
            <a:ext cx="90720" cy="959400"/>
          </a:xfrm>
          <a:prstGeom prst="rect">
            <a:avLst/>
          </a:prstGeom>
          <a:solidFill>
            <a:srgbClr val="e04e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3" name="TextBox 17"/>
          <p:cNvSpPr/>
          <p:nvPr/>
        </p:nvSpPr>
        <p:spPr>
          <a:xfrm>
            <a:off x="7772400" y="2039040"/>
            <a:ext cx="3794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−18 %  perplexity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Box 18"/>
          <p:cNvSpPr/>
          <p:nvPr/>
        </p:nvSpPr>
        <p:spPr>
          <a:xfrm>
            <a:off x="7772400" y="2532960"/>
            <a:ext cx="3794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Mamba 34.08  vs  Transformer 41.41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Rectangle 19"/>
          <p:cNvSpPr/>
          <p:nvPr/>
        </p:nvSpPr>
        <p:spPr>
          <a:xfrm>
            <a:off x="7498080" y="3090600"/>
            <a:ext cx="4251240" cy="959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6" name="Rectangle 20"/>
          <p:cNvSpPr/>
          <p:nvPr/>
        </p:nvSpPr>
        <p:spPr>
          <a:xfrm>
            <a:off x="7498080" y="3090600"/>
            <a:ext cx="90720" cy="9594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7" name="TextBox 21"/>
          <p:cNvSpPr/>
          <p:nvPr/>
        </p:nvSpPr>
        <p:spPr>
          <a:xfrm>
            <a:off x="7772400" y="3163680"/>
            <a:ext cx="3794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5.58×  inference  @ 4096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Box 22"/>
          <p:cNvSpPr/>
          <p:nvPr/>
        </p:nvSpPr>
        <p:spPr>
          <a:xfrm>
            <a:off x="7772400" y="3657600"/>
            <a:ext cx="3794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Speedup over Transformer at long context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Rectangle 23"/>
          <p:cNvSpPr/>
          <p:nvPr/>
        </p:nvSpPr>
        <p:spPr>
          <a:xfrm>
            <a:off x="7498080" y="4215240"/>
            <a:ext cx="4251240" cy="959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0" name="Rectangle 24"/>
          <p:cNvSpPr/>
          <p:nvPr/>
        </p:nvSpPr>
        <p:spPr>
          <a:xfrm>
            <a:off x="7498080" y="4215240"/>
            <a:ext cx="90720" cy="9594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1" name="TextBox 25"/>
          <p:cNvSpPr/>
          <p:nvPr/>
        </p:nvSpPr>
        <p:spPr>
          <a:xfrm>
            <a:off x="7772400" y="4288680"/>
            <a:ext cx="3794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−64 %  memory  @ 4096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Box 26"/>
          <p:cNvSpPr/>
          <p:nvPr/>
        </p:nvSpPr>
        <p:spPr>
          <a:xfrm>
            <a:off x="7772400" y="4782240"/>
            <a:ext cx="3794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Training peak memory at long context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Box 27"/>
          <p:cNvSpPr/>
          <p:nvPr/>
        </p:nvSpPr>
        <p:spPr>
          <a:xfrm>
            <a:off x="502920" y="576072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All metrics from out/benchmark_results.json and out/*_eval.json — A100-80GB, BF16.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5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6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77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8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9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0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1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17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Training Dynamics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Loss curves and validation perplexity over training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86" name="Picture 13" descr="training_loss.png"/>
          <p:cNvPicPr/>
          <p:nvPr/>
        </p:nvPicPr>
        <p:blipFill>
          <a:blip r:embed="rId2"/>
          <a:stretch/>
        </p:blipFill>
        <p:spPr>
          <a:xfrm>
            <a:off x="411480" y="1417320"/>
            <a:ext cx="5668560" cy="369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7" name="Picture 14" descr="val_perplexity.png"/>
          <p:cNvPicPr/>
          <p:nvPr/>
        </p:nvPicPr>
        <p:blipFill>
          <a:blip r:embed="rId3"/>
          <a:stretch/>
        </p:blipFill>
        <p:spPr>
          <a:xfrm>
            <a:off x="6263640" y="1417320"/>
            <a:ext cx="5485680" cy="354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8" name="TextBox 15"/>
          <p:cNvSpPr/>
          <p:nvPr/>
        </p:nvSpPr>
        <p:spPr>
          <a:xfrm>
            <a:off x="411480" y="5029200"/>
            <a:ext cx="5668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Training loss vs steps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Box 16"/>
          <p:cNvSpPr/>
          <p:nvPr/>
        </p:nvSpPr>
        <p:spPr>
          <a:xfrm>
            <a:off x="6263640" y="502920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Validation perplexity vs steps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Rectangle 17"/>
          <p:cNvSpPr/>
          <p:nvPr/>
        </p:nvSpPr>
        <p:spPr>
          <a:xfrm>
            <a:off x="502920" y="5440680"/>
            <a:ext cx="11185200" cy="593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1" name="TextBox 18"/>
          <p:cNvSpPr/>
          <p:nvPr/>
        </p:nvSpPr>
        <p:spPr>
          <a:xfrm>
            <a:off x="685800" y="5495400"/>
            <a:ext cx="10819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Observation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Box 19"/>
          <p:cNvSpPr/>
          <p:nvPr/>
        </p:nvSpPr>
        <p:spPr>
          <a:xfrm>
            <a:off x="685800" y="5733360"/>
            <a:ext cx="10819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0" i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Mamba shows faster early-phase convergence and a smoother trajectory; both models approach similar regimes by step 20,000, with Mamba retaining a measurable edge in final perplexity.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Box 20"/>
          <p:cNvSpPr/>
          <p:nvPr/>
        </p:nvSpPr>
        <p:spPr>
          <a:xfrm>
            <a:off x="502920" y="507492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Source: scripts/plot_results.py from out/*_log.json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5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6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97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8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9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0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1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18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Throughput Scaling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Inference tokens / second  •  Speedup ratio across context lengths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06" name="Picture 13" descr="inference_throughput.png"/>
          <p:cNvPicPr/>
          <p:nvPr/>
        </p:nvPicPr>
        <p:blipFill>
          <a:blip r:embed="rId2"/>
          <a:stretch/>
        </p:blipFill>
        <p:spPr>
          <a:xfrm>
            <a:off x="411480" y="1371600"/>
            <a:ext cx="5394240" cy="337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7" name="Picture 14" descr="speedup.png"/>
          <p:cNvPicPr/>
          <p:nvPr/>
        </p:nvPicPr>
        <p:blipFill>
          <a:blip r:embed="rId3"/>
          <a:stretch/>
        </p:blipFill>
        <p:spPr>
          <a:xfrm>
            <a:off x="6355080" y="1371600"/>
            <a:ext cx="5394240" cy="355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8" name="Rectangle 15"/>
          <p:cNvSpPr/>
          <p:nvPr/>
        </p:nvSpPr>
        <p:spPr>
          <a:xfrm>
            <a:off x="502920" y="4846320"/>
            <a:ext cx="2134080" cy="1005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9" name="Rectangle 16"/>
          <p:cNvSpPr/>
          <p:nvPr/>
        </p:nvSpPr>
        <p:spPr>
          <a:xfrm>
            <a:off x="502920" y="4846320"/>
            <a:ext cx="90720" cy="10051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0" name="TextBox 17"/>
          <p:cNvSpPr/>
          <p:nvPr/>
        </p:nvSpPr>
        <p:spPr>
          <a:xfrm>
            <a:off x="640080" y="4901040"/>
            <a:ext cx="185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0.78×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Box 18"/>
          <p:cNvSpPr/>
          <p:nvPr/>
        </p:nvSpPr>
        <p:spPr>
          <a:xfrm>
            <a:off x="640080" y="530352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@ 512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Box 19"/>
          <p:cNvSpPr/>
          <p:nvPr/>
        </p:nvSpPr>
        <p:spPr>
          <a:xfrm>
            <a:off x="640080" y="555948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Transformer faster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Rectangle 20"/>
          <p:cNvSpPr/>
          <p:nvPr/>
        </p:nvSpPr>
        <p:spPr>
          <a:xfrm>
            <a:off x="2765520" y="4846320"/>
            <a:ext cx="2134080" cy="1005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4" name="Rectangle 21"/>
          <p:cNvSpPr/>
          <p:nvPr/>
        </p:nvSpPr>
        <p:spPr>
          <a:xfrm>
            <a:off x="2765520" y="4846320"/>
            <a:ext cx="90720" cy="10051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5" name="TextBox 22"/>
          <p:cNvSpPr/>
          <p:nvPr/>
        </p:nvSpPr>
        <p:spPr>
          <a:xfrm>
            <a:off x="2902680" y="4901040"/>
            <a:ext cx="185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1.88×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Box 23"/>
          <p:cNvSpPr/>
          <p:nvPr/>
        </p:nvSpPr>
        <p:spPr>
          <a:xfrm>
            <a:off x="2902680" y="530352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@ 1024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24"/>
          <p:cNvSpPr/>
          <p:nvPr/>
        </p:nvSpPr>
        <p:spPr>
          <a:xfrm>
            <a:off x="2902680" y="555948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Mamba takes lead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Rectangle 25"/>
          <p:cNvSpPr/>
          <p:nvPr/>
        </p:nvSpPr>
        <p:spPr>
          <a:xfrm>
            <a:off x="5028480" y="4846320"/>
            <a:ext cx="2134080" cy="1005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9" name="Rectangle 26"/>
          <p:cNvSpPr/>
          <p:nvPr/>
        </p:nvSpPr>
        <p:spPr>
          <a:xfrm>
            <a:off x="5028480" y="4846320"/>
            <a:ext cx="90720" cy="10051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0" name="TextBox 27"/>
          <p:cNvSpPr/>
          <p:nvPr/>
        </p:nvSpPr>
        <p:spPr>
          <a:xfrm>
            <a:off x="5165640" y="4901040"/>
            <a:ext cx="185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3.75×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Box 28"/>
          <p:cNvSpPr/>
          <p:nvPr/>
        </p:nvSpPr>
        <p:spPr>
          <a:xfrm>
            <a:off x="5165640" y="530352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@ 2048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Box 29"/>
          <p:cNvSpPr/>
          <p:nvPr/>
        </p:nvSpPr>
        <p:spPr>
          <a:xfrm>
            <a:off x="5165640" y="555948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Clear advantage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Rectangle 30"/>
          <p:cNvSpPr/>
          <p:nvPr/>
        </p:nvSpPr>
        <p:spPr>
          <a:xfrm>
            <a:off x="7291080" y="4846320"/>
            <a:ext cx="2134080" cy="1005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4" name="Rectangle 31"/>
          <p:cNvSpPr/>
          <p:nvPr/>
        </p:nvSpPr>
        <p:spPr>
          <a:xfrm>
            <a:off x="7291080" y="4846320"/>
            <a:ext cx="90720" cy="10051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Box 32"/>
          <p:cNvSpPr/>
          <p:nvPr/>
        </p:nvSpPr>
        <p:spPr>
          <a:xfrm>
            <a:off x="7428240" y="4901040"/>
            <a:ext cx="185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5.58×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Box 33"/>
          <p:cNvSpPr/>
          <p:nvPr/>
        </p:nvSpPr>
        <p:spPr>
          <a:xfrm>
            <a:off x="7428240" y="530352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@ 4096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Box 34"/>
          <p:cNvSpPr/>
          <p:nvPr/>
        </p:nvSpPr>
        <p:spPr>
          <a:xfrm>
            <a:off x="7428240" y="555948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Long-context regime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Rectangle 35"/>
          <p:cNvSpPr/>
          <p:nvPr/>
        </p:nvSpPr>
        <p:spPr>
          <a:xfrm>
            <a:off x="9554040" y="4846320"/>
            <a:ext cx="2134080" cy="1005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9" name="Rectangle 36"/>
          <p:cNvSpPr/>
          <p:nvPr/>
        </p:nvSpPr>
        <p:spPr>
          <a:xfrm>
            <a:off x="9554040" y="4846320"/>
            <a:ext cx="90720" cy="10051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0" name="TextBox 37"/>
          <p:cNvSpPr/>
          <p:nvPr/>
        </p:nvSpPr>
        <p:spPr>
          <a:xfrm>
            <a:off x="9691200" y="4901040"/>
            <a:ext cx="185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8.93×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Box 38"/>
          <p:cNvSpPr/>
          <p:nvPr/>
        </p:nvSpPr>
        <p:spPr>
          <a:xfrm>
            <a:off x="9691200" y="530352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@ 8192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Box 39"/>
          <p:cNvSpPr/>
          <p:nvPr/>
        </p:nvSpPr>
        <p:spPr>
          <a:xfrm>
            <a:off x="9691200" y="5559480"/>
            <a:ext cx="185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Trend accelerates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Box 40"/>
          <p:cNvSpPr/>
          <p:nvPr/>
        </p:nvSpPr>
        <p:spPr>
          <a:xfrm>
            <a:off x="502920" y="5943600"/>
            <a:ext cx="11185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Benchmarks measured on NVIDIA A100-80GB using BF16 precision  •  out/benchmark_results.json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5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6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37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8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9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0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1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19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4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Memory Scaling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Peak training memory  •  constant-state vs growing KV-cache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46" name="Picture 13" descr="memory_scaling.png"/>
          <p:cNvPicPr/>
          <p:nvPr/>
        </p:nvPicPr>
        <p:blipFill>
          <a:blip r:embed="rId2"/>
          <a:stretch/>
        </p:blipFill>
        <p:spPr>
          <a:xfrm>
            <a:off x="502920" y="1417320"/>
            <a:ext cx="6857280" cy="433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7" name="TextBox 14"/>
          <p:cNvSpPr/>
          <p:nvPr/>
        </p:nvSpPr>
        <p:spPr>
          <a:xfrm>
            <a:off x="7589520" y="1417320"/>
            <a:ext cx="41598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Training peak memory (MB)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Rectangle 15"/>
          <p:cNvSpPr/>
          <p:nvPr/>
        </p:nvSpPr>
        <p:spPr>
          <a:xfrm>
            <a:off x="7589520" y="1874520"/>
            <a:ext cx="867960" cy="291960"/>
          </a:xfrm>
          <a:prstGeom prst="rect">
            <a:avLst/>
          </a:prstGeom>
          <a:solidFill>
            <a:srgbClr val="1e2761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Seq len</a:t>
            </a:r>
            <a:endParaRPr lang="en-IN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Rectangle 16"/>
          <p:cNvSpPr/>
          <p:nvPr/>
        </p:nvSpPr>
        <p:spPr>
          <a:xfrm>
            <a:off x="8458200" y="1874520"/>
            <a:ext cx="1096560" cy="291960"/>
          </a:xfrm>
          <a:prstGeom prst="rect">
            <a:avLst/>
          </a:prstGeom>
          <a:solidFill>
            <a:srgbClr val="1e2761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Mamba</a:t>
            </a:r>
            <a:endParaRPr lang="en-IN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Rectangle 17"/>
          <p:cNvSpPr/>
          <p:nvPr/>
        </p:nvSpPr>
        <p:spPr>
          <a:xfrm>
            <a:off x="9555480" y="1874520"/>
            <a:ext cx="1279440" cy="291960"/>
          </a:xfrm>
          <a:prstGeom prst="rect">
            <a:avLst/>
          </a:prstGeom>
          <a:solidFill>
            <a:srgbClr val="1e2761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Transformer</a:t>
            </a:r>
            <a:endParaRPr lang="en-IN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Rectangle 18"/>
          <p:cNvSpPr/>
          <p:nvPr/>
        </p:nvSpPr>
        <p:spPr>
          <a:xfrm>
            <a:off x="10835640" y="1874520"/>
            <a:ext cx="913680" cy="291960"/>
          </a:xfrm>
          <a:prstGeom prst="rect">
            <a:avLst/>
          </a:prstGeom>
          <a:solidFill>
            <a:srgbClr val="1e2761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Reduction</a:t>
            </a:r>
            <a:endParaRPr lang="en-IN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Rectangle 19"/>
          <p:cNvSpPr/>
          <p:nvPr/>
        </p:nvSpPr>
        <p:spPr>
          <a:xfrm>
            <a:off x="7589520" y="2167200"/>
            <a:ext cx="86796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512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Rectangle 20"/>
          <p:cNvSpPr/>
          <p:nvPr/>
        </p:nvSpPr>
        <p:spPr>
          <a:xfrm>
            <a:off x="8458200" y="2167200"/>
            <a:ext cx="1096560" cy="291960"/>
          </a:xfrm>
          <a:prstGeom prst="rect">
            <a:avLst/>
          </a:prstGeom>
          <a:solidFill>
            <a:srgbClr val="eef2ff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2,239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Rectangle 21"/>
          <p:cNvSpPr/>
          <p:nvPr/>
        </p:nvSpPr>
        <p:spPr>
          <a:xfrm>
            <a:off x="9555480" y="2167200"/>
            <a:ext cx="1279440" cy="291960"/>
          </a:xfrm>
          <a:prstGeom prst="rect">
            <a:avLst/>
          </a:prstGeom>
          <a:solidFill>
            <a:srgbClr val="fdf2f2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3,634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Rectangle 22"/>
          <p:cNvSpPr/>
          <p:nvPr/>
        </p:nvSpPr>
        <p:spPr>
          <a:xfrm>
            <a:off x="10835640" y="2167200"/>
            <a:ext cx="91368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38%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Rectangle 23"/>
          <p:cNvSpPr/>
          <p:nvPr/>
        </p:nvSpPr>
        <p:spPr>
          <a:xfrm>
            <a:off x="7589520" y="2459880"/>
            <a:ext cx="86796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1024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Rectangle 24"/>
          <p:cNvSpPr/>
          <p:nvPr/>
        </p:nvSpPr>
        <p:spPr>
          <a:xfrm>
            <a:off x="8458200" y="2459880"/>
            <a:ext cx="1096560" cy="291960"/>
          </a:xfrm>
          <a:prstGeom prst="rect">
            <a:avLst/>
          </a:prstGeom>
          <a:solidFill>
            <a:srgbClr val="eef2ff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3,692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Rectangle 25"/>
          <p:cNvSpPr/>
          <p:nvPr/>
        </p:nvSpPr>
        <p:spPr>
          <a:xfrm>
            <a:off x="9555480" y="2459880"/>
            <a:ext cx="1279440" cy="291960"/>
          </a:xfrm>
          <a:prstGeom prst="rect">
            <a:avLst/>
          </a:prstGeom>
          <a:solidFill>
            <a:srgbClr val="fdf2f2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6,297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Rectangle 26"/>
          <p:cNvSpPr/>
          <p:nvPr/>
        </p:nvSpPr>
        <p:spPr>
          <a:xfrm>
            <a:off x="10835640" y="2459880"/>
            <a:ext cx="91368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41%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Rectangle 27"/>
          <p:cNvSpPr/>
          <p:nvPr/>
        </p:nvSpPr>
        <p:spPr>
          <a:xfrm>
            <a:off x="7589520" y="2752200"/>
            <a:ext cx="86796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2048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Rectangle 28"/>
          <p:cNvSpPr/>
          <p:nvPr/>
        </p:nvSpPr>
        <p:spPr>
          <a:xfrm>
            <a:off x="8458200" y="2752200"/>
            <a:ext cx="1096560" cy="291960"/>
          </a:xfrm>
          <a:prstGeom prst="rect">
            <a:avLst/>
          </a:prstGeom>
          <a:solidFill>
            <a:srgbClr val="eef2ff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6,615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Rectangle 29"/>
          <p:cNvSpPr/>
          <p:nvPr/>
        </p:nvSpPr>
        <p:spPr>
          <a:xfrm>
            <a:off x="9555480" y="2752200"/>
            <a:ext cx="1279440" cy="291960"/>
          </a:xfrm>
          <a:prstGeom prst="rect">
            <a:avLst/>
          </a:prstGeom>
          <a:solidFill>
            <a:srgbClr val="fdf2f2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13,355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Rectangle 30"/>
          <p:cNvSpPr/>
          <p:nvPr/>
        </p:nvSpPr>
        <p:spPr>
          <a:xfrm>
            <a:off x="10835640" y="2752200"/>
            <a:ext cx="91368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51%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Rectangle 31"/>
          <p:cNvSpPr/>
          <p:nvPr/>
        </p:nvSpPr>
        <p:spPr>
          <a:xfrm>
            <a:off x="7589520" y="3044880"/>
            <a:ext cx="86796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4096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Rectangle 32"/>
          <p:cNvSpPr/>
          <p:nvPr/>
        </p:nvSpPr>
        <p:spPr>
          <a:xfrm>
            <a:off x="8458200" y="3044880"/>
            <a:ext cx="1096560" cy="291960"/>
          </a:xfrm>
          <a:prstGeom prst="rect">
            <a:avLst/>
          </a:prstGeom>
          <a:solidFill>
            <a:srgbClr val="eef2ff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12,443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Rectangle 33"/>
          <p:cNvSpPr/>
          <p:nvPr/>
        </p:nvSpPr>
        <p:spPr>
          <a:xfrm>
            <a:off x="9555480" y="3044880"/>
            <a:ext cx="1279440" cy="291960"/>
          </a:xfrm>
          <a:prstGeom prst="rect">
            <a:avLst/>
          </a:prstGeom>
          <a:solidFill>
            <a:srgbClr val="fdf2f2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34,377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Rectangle 34"/>
          <p:cNvSpPr/>
          <p:nvPr/>
        </p:nvSpPr>
        <p:spPr>
          <a:xfrm>
            <a:off x="10835640" y="3044880"/>
            <a:ext cx="91368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64%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Rectangle 35"/>
          <p:cNvSpPr/>
          <p:nvPr/>
        </p:nvSpPr>
        <p:spPr>
          <a:xfrm>
            <a:off x="7589520" y="3337560"/>
            <a:ext cx="86796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8192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Rectangle 36"/>
          <p:cNvSpPr/>
          <p:nvPr/>
        </p:nvSpPr>
        <p:spPr>
          <a:xfrm>
            <a:off x="8458200" y="3337560"/>
            <a:ext cx="1096560" cy="291960"/>
          </a:xfrm>
          <a:prstGeom prst="rect">
            <a:avLst/>
          </a:prstGeom>
          <a:solidFill>
            <a:srgbClr val="eef2ff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24,098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Rectangle 37"/>
          <p:cNvSpPr/>
          <p:nvPr/>
        </p:nvSpPr>
        <p:spPr>
          <a:xfrm>
            <a:off x="9555480" y="3337560"/>
            <a:ext cx="1279440" cy="291960"/>
          </a:xfrm>
          <a:prstGeom prst="rect">
            <a:avLst/>
          </a:prstGeom>
          <a:solidFill>
            <a:srgbClr val="fee2e2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c3545"/>
                </a:solidFill>
                <a:effectLst/>
                <a:uFillTx/>
                <a:latin typeface="Calibri"/>
              </a:rPr>
              <a:t>OOM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Rectangle 38"/>
          <p:cNvSpPr/>
          <p:nvPr/>
        </p:nvSpPr>
        <p:spPr>
          <a:xfrm>
            <a:off x="10835640" y="3337560"/>
            <a:ext cx="913680" cy="29196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45720" tIns="0" bIns="0"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—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Rectangle 39"/>
          <p:cNvSpPr/>
          <p:nvPr/>
        </p:nvSpPr>
        <p:spPr>
          <a:xfrm>
            <a:off x="7589520" y="3813120"/>
            <a:ext cx="4159800" cy="10965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3" name="TextBox 40"/>
          <p:cNvSpPr/>
          <p:nvPr/>
        </p:nvSpPr>
        <p:spPr>
          <a:xfrm>
            <a:off x="7772400" y="3950280"/>
            <a:ext cx="379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Hard wall at 8192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Box 41"/>
          <p:cNvSpPr/>
          <p:nvPr/>
        </p:nvSpPr>
        <p:spPr>
          <a:xfrm>
            <a:off x="7772400" y="4224600"/>
            <a:ext cx="3794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i="1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Transformer training OOMs at seq_len 8192 on an 80 GB A100; Mamba completes it at 24 GB. Constant-state vs growing KV-cache.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Box 42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Benchmarks measured on NVIDIA A100-80GB using BF16 precision  •  out/benchmark_results.json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7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8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79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0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1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2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20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6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Implementation Observations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Practical notes from running the experiments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8" name="Rectangle 13"/>
          <p:cNvSpPr/>
          <p:nvPr/>
        </p:nvSpPr>
        <p:spPr>
          <a:xfrm>
            <a:off x="502920" y="1417320"/>
            <a:ext cx="5500800" cy="13251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9" name="Rectangle 14"/>
          <p:cNvSpPr/>
          <p:nvPr/>
        </p:nvSpPr>
        <p:spPr>
          <a:xfrm>
            <a:off x="502920" y="1417320"/>
            <a:ext cx="90720" cy="13251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15"/>
          <p:cNvSpPr/>
          <p:nvPr/>
        </p:nvSpPr>
        <p:spPr>
          <a:xfrm>
            <a:off x="777240" y="1581840"/>
            <a:ext cx="504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Setup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Box 16"/>
          <p:cNvSpPr/>
          <p:nvPr/>
        </p:nvSpPr>
        <p:spPr>
          <a:xfrm>
            <a:off x="777240" y="1984320"/>
            <a:ext cx="50436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mamba-ssm needs precise CUDA / PyTorch ABI matching — we used PyTorch 2.6 + CUDA 12.6 prebuilt wheels.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Rectangle 17"/>
          <p:cNvSpPr/>
          <p:nvPr/>
        </p:nvSpPr>
        <p:spPr>
          <a:xfrm>
            <a:off x="6187320" y="1417320"/>
            <a:ext cx="5500800" cy="13251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3" name="Rectangle 18"/>
          <p:cNvSpPr/>
          <p:nvPr/>
        </p:nvSpPr>
        <p:spPr>
          <a:xfrm>
            <a:off x="6187320" y="1417320"/>
            <a:ext cx="90720" cy="13251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19"/>
          <p:cNvSpPr/>
          <p:nvPr/>
        </p:nvSpPr>
        <p:spPr>
          <a:xfrm>
            <a:off x="6461640" y="1581840"/>
            <a:ext cx="504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CUDA kernels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Box 20"/>
          <p:cNvSpPr/>
          <p:nvPr/>
        </p:nvSpPr>
        <p:spPr>
          <a:xfrm>
            <a:off x="6461640" y="1984320"/>
            <a:ext cx="50436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Custom selective-scan kernels are essential — no viable CPU fallback at this scale.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Rectangle 21"/>
          <p:cNvSpPr/>
          <p:nvPr/>
        </p:nvSpPr>
        <p:spPr>
          <a:xfrm>
            <a:off x="502920" y="2926080"/>
            <a:ext cx="5500800" cy="13251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7" name="Rectangle 22"/>
          <p:cNvSpPr/>
          <p:nvPr/>
        </p:nvSpPr>
        <p:spPr>
          <a:xfrm>
            <a:off x="502920" y="2926080"/>
            <a:ext cx="90720" cy="13251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8" name="TextBox 23"/>
          <p:cNvSpPr/>
          <p:nvPr/>
        </p:nvSpPr>
        <p:spPr>
          <a:xfrm>
            <a:off x="777240" y="3090600"/>
            <a:ext cx="504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Training stability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Box 24"/>
          <p:cNvSpPr/>
          <p:nvPr/>
        </p:nvSpPr>
        <p:spPr>
          <a:xfrm>
            <a:off x="777240" y="3493080"/>
            <a:ext cx="50436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Mamba's loss curves are noticeably smoother than the Transformer baseline.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Rectangle 25"/>
          <p:cNvSpPr/>
          <p:nvPr/>
        </p:nvSpPr>
        <p:spPr>
          <a:xfrm>
            <a:off x="6187320" y="2926080"/>
            <a:ext cx="5500800" cy="13251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1" name="Rectangle 26"/>
          <p:cNvSpPr/>
          <p:nvPr/>
        </p:nvSpPr>
        <p:spPr>
          <a:xfrm>
            <a:off x="6187320" y="2926080"/>
            <a:ext cx="90720" cy="13251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2" name="TextBox 27"/>
          <p:cNvSpPr/>
          <p:nvPr/>
        </p:nvSpPr>
        <p:spPr>
          <a:xfrm>
            <a:off x="6461640" y="3090600"/>
            <a:ext cx="504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Memory patterns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Box 28"/>
          <p:cNvSpPr/>
          <p:nvPr/>
        </p:nvSpPr>
        <p:spPr>
          <a:xfrm>
            <a:off x="6461640" y="3493080"/>
            <a:ext cx="50436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Constant Mamba memory vs quadratic Transformer KV-cache, confirmed across 512–4096.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Rectangle 29"/>
          <p:cNvSpPr/>
          <p:nvPr/>
        </p:nvSpPr>
        <p:spPr>
          <a:xfrm>
            <a:off x="502920" y="4434840"/>
            <a:ext cx="5500800" cy="13251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5" name="Rectangle 30"/>
          <p:cNvSpPr/>
          <p:nvPr/>
        </p:nvSpPr>
        <p:spPr>
          <a:xfrm>
            <a:off x="502920" y="4434840"/>
            <a:ext cx="90720" cy="13251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6" name="TextBox 31"/>
          <p:cNvSpPr/>
          <p:nvPr/>
        </p:nvSpPr>
        <p:spPr>
          <a:xfrm>
            <a:off x="777240" y="4599360"/>
            <a:ext cx="504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Crossover at ~1k tokens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Box 32"/>
          <p:cNvSpPr/>
          <p:nvPr/>
        </p:nvSpPr>
        <p:spPr>
          <a:xfrm>
            <a:off x="777240" y="5001840"/>
            <a:ext cx="50436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Below 1024 tokens the Transformer is faster; selective-scan overhead amortizes only at longer context.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Rectangle 33"/>
          <p:cNvSpPr/>
          <p:nvPr/>
        </p:nvSpPr>
        <p:spPr>
          <a:xfrm>
            <a:off x="6187320" y="4434840"/>
            <a:ext cx="5500800" cy="13251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9" name="Rectangle 34"/>
          <p:cNvSpPr/>
          <p:nvPr/>
        </p:nvSpPr>
        <p:spPr>
          <a:xfrm>
            <a:off x="6187320" y="4434840"/>
            <a:ext cx="90720" cy="13251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0" name="TextBox 35"/>
          <p:cNvSpPr/>
          <p:nvPr/>
        </p:nvSpPr>
        <p:spPr>
          <a:xfrm>
            <a:off x="6461640" y="4599360"/>
            <a:ext cx="5043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Reproducibility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Box 36"/>
          <p:cNvSpPr/>
          <p:nvPr/>
        </p:nvSpPr>
        <p:spPr>
          <a:xfrm>
            <a:off x="6461640" y="5001840"/>
            <a:ext cx="50436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Single seed per run; no large hyperparameter sweep.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Box 37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Notes from training, evaluation, and benchmarking runs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4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5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6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7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8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9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0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21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3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 Lineage &amp; Recent SSM Developments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From Mamba-1 (2023) to Mamba-2 (2024) and Mamba-3 (2026)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5" name="Rectangle 13"/>
          <p:cNvSpPr/>
          <p:nvPr/>
        </p:nvSpPr>
        <p:spPr>
          <a:xfrm>
            <a:off x="502920" y="1417320"/>
            <a:ext cx="3544920" cy="3931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Rectangle 14"/>
          <p:cNvSpPr/>
          <p:nvPr/>
        </p:nvSpPr>
        <p:spPr>
          <a:xfrm>
            <a:off x="502920" y="1417320"/>
            <a:ext cx="354492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15"/>
          <p:cNvSpPr/>
          <p:nvPr/>
        </p:nvSpPr>
        <p:spPr>
          <a:xfrm>
            <a:off x="731520" y="1508760"/>
            <a:ext cx="3087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2023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16"/>
          <p:cNvSpPr/>
          <p:nvPr/>
        </p:nvSpPr>
        <p:spPr>
          <a:xfrm>
            <a:off x="731520" y="2057400"/>
            <a:ext cx="3087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Box 17"/>
          <p:cNvSpPr/>
          <p:nvPr/>
        </p:nvSpPr>
        <p:spPr>
          <a:xfrm>
            <a:off x="731520" y="2606040"/>
            <a:ext cx="30877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Selective state space (S6) and hardware-aware scan; first attention-free model to match Transformer++.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Rectangle 18"/>
          <p:cNvSpPr/>
          <p:nvPr/>
        </p:nvSpPr>
        <p:spPr>
          <a:xfrm>
            <a:off x="731520" y="3977640"/>
            <a:ext cx="308772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1" name="TextBox 19"/>
          <p:cNvSpPr/>
          <p:nvPr/>
        </p:nvSpPr>
        <p:spPr>
          <a:xfrm>
            <a:off x="731520" y="4114800"/>
            <a:ext cx="3087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Selective B, C, Δ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Parallel scan kernel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Linear-time recurrence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Rectangle 20"/>
          <p:cNvSpPr/>
          <p:nvPr/>
        </p:nvSpPr>
        <p:spPr>
          <a:xfrm>
            <a:off x="4322880" y="1417320"/>
            <a:ext cx="3544920" cy="3931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3" name="Rectangle 21"/>
          <p:cNvSpPr/>
          <p:nvPr/>
        </p:nvSpPr>
        <p:spPr>
          <a:xfrm>
            <a:off x="4322880" y="1417320"/>
            <a:ext cx="354492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4" name="TextBox 22"/>
          <p:cNvSpPr/>
          <p:nvPr/>
        </p:nvSpPr>
        <p:spPr>
          <a:xfrm>
            <a:off x="4551480" y="1508760"/>
            <a:ext cx="3087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2024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23"/>
          <p:cNvSpPr/>
          <p:nvPr/>
        </p:nvSpPr>
        <p:spPr>
          <a:xfrm>
            <a:off x="4551480" y="2057400"/>
            <a:ext cx="3087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Mamba-2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Box 24"/>
          <p:cNvSpPr/>
          <p:nvPr/>
        </p:nvSpPr>
        <p:spPr>
          <a:xfrm>
            <a:off x="4551480" y="2606040"/>
            <a:ext cx="30877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Structured State Space Duality framework; SSMs reformulated as matmul-friendly operations.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Rectangle 25"/>
          <p:cNvSpPr/>
          <p:nvPr/>
        </p:nvSpPr>
        <p:spPr>
          <a:xfrm>
            <a:off x="4551480" y="3977640"/>
            <a:ext cx="308772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8" name="TextBox 26"/>
          <p:cNvSpPr/>
          <p:nvPr/>
        </p:nvSpPr>
        <p:spPr>
          <a:xfrm>
            <a:off x="4551480" y="4114800"/>
            <a:ext cx="3087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2–8× faster training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Larger states (N=64–256+)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Connects SSM ↔ attention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ectangle 27"/>
          <p:cNvSpPr/>
          <p:nvPr/>
        </p:nvSpPr>
        <p:spPr>
          <a:xfrm>
            <a:off x="8143200" y="1417320"/>
            <a:ext cx="3544920" cy="3931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Rectangle 28"/>
          <p:cNvSpPr/>
          <p:nvPr/>
        </p:nvSpPr>
        <p:spPr>
          <a:xfrm>
            <a:off x="8143200" y="1417320"/>
            <a:ext cx="354492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Box 29"/>
          <p:cNvSpPr/>
          <p:nvPr/>
        </p:nvSpPr>
        <p:spPr>
          <a:xfrm>
            <a:off x="8371800" y="1508760"/>
            <a:ext cx="3087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2026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Box 30"/>
          <p:cNvSpPr/>
          <p:nvPr/>
        </p:nvSpPr>
        <p:spPr>
          <a:xfrm>
            <a:off x="8371800" y="2057400"/>
            <a:ext cx="3087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Mamba-3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Box 31"/>
          <p:cNvSpPr/>
          <p:nvPr/>
        </p:nvSpPr>
        <p:spPr>
          <a:xfrm>
            <a:off x="8371800" y="2606040"/>
            <a:ext cx="30877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Inference-first design; complex-valued states and MIMO formulation for higher quality at fixed latency.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Rectangle 32"/>
          <p:cNvSpPr/>
          <p:nvPr/>
        </p:nvSpPr>
        <p:spPr>
          <a:xfrm>
            <a:off x="8371800" y="3977640"/>
            <a:ext cx="308772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5" name="TextBox 33"/>
          <p:cNvSpPr/>
          <p:nvPr/>
        </p:nvSpPr>
        <p:spPr>
          <a:xfrm>
            <a:off x="8371800" y="4114800"/>
            <a:ext cx="3087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Better quality / latency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Complex-valued states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5000"/>
              </a:lnSpc>
              <a:spcBef>
                <a:spcPts val="201"/>
              </a:spcBef>
              <a:spcAft>
                <a:spcPts val="201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Calibri"/>
              </a:rPr>
              <a:t>MIMO formulation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Box 34"/>
          <p:cNvSpPr/>
          <p:nvPr/>
        </p:nvSpPr>
        <p:spPr>
          <a:xfrm>
            <a:off x="502920" y="5532120"/>
            <a:ext cx="11185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200" b="1" i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Each generation builds on the selective-SSM foundation introduced in 2023.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Box 35"/>
          <p:cNvSpPr/>
          <p:nvPr/>
        </p:nvSpPr>
        <p:spPr>
          <a:xfrm>
            <a:off x="502920" y="6080760"/>
            <a:ext cx="85334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Gu &amp; Dao (2023)  •  Dao &amp; Gu (2024)  •  Mamba-3 (2026)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Rectangle 1"/>
          <p:cNvSpPr/>
          <p:nvPr/>
        </p:nvSpPr>
        <p:spPr>
          <a:xfrm>
            <a:off x="11094480" y="164520"/>
            <a:ext cx="288720" cy="9072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9" name="Rectangle 2"/>
          <p:cNvSpPr/>
          <p:nvPr/>
        </p:nvSpPr>
        <p:spPr>
          <a:xfrm>
            <a:off x="11383920" y="164520"/>
            <a:ext cx="288720" cy="9072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Rectangle 3"/>
          <p:cNvSpPr/>
          <p:nvPr/>
        </p:nvSpPr>
        <p:spPr>
          <a:xfrm>
            <a:off x="11673360" y="164520"/>
            <a:ext cx="288720" cy="9072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51" name="Picture 4" descr="bits_logo.png"/>
          <p:cNvPicPr/>
          <p:nvPr/>
        </p:nvPicPr>
        <p:blipFill>
          <a:blip r:embed="rId1"/>
          <a:stretch/>
        </p:blipFill>
        <p:spPr>
          <a:xfrm>
            <a:off x="10774440" y="329040"/>
            <a:ext cx="1188000" cy="41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2" name="Rectangle 5"/>
          <p:cNvSpPr/>
          <p:nvPr/>
        </p:nvSpPr>
        <p:spPr>
          <a:xfrm>
            <a:off x="9402840" y="6583680"/>
            <a:ext cx="791640" cy="4500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3" name="Rectangle 6"/>
          <p:cNvSpPr/>
          <p:nvPr/>
        </p:nvSpPr>
        <p:spPr>
          <a:xfrm>
            <a:off x="10195200" y="6583680"/>
            <a:ext cx="791640" cy="4500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4" name="Rectangle 7"/>
          <p:cNvSpPr/>
          <p:nvPr/>
        </p:nvSpPr>
        <p:spPr>
          <a:xfrm>
            <a:off x="10987560" y="6583680"/>
            <a:ext cx="791640" cy="4500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5" name="TextBox 8"/>
          <p:cNvSpPr/>
          <p:nvPr/>
        </p:nvSpPr>
        <p:spPr>
          <a:xfrm>
            <a:off x="411480" y="6473880"/>
            <a:ext cx="2285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22 / 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TextBox 9"/>
          <p:cNvSpPr/>
          <p:nvPr/>
        </p:nvSpPr>
        <p:spPr>
          <a:xfrm>
            <a:off x="411480" y="6291000"/>
            <a:ext cx="5485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Generative AI Course Project  •  Mamba Reproduction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Rectangle 10"/>
          <p:cNvSpPr/>
          <p:nvPr/>
        </p:nvSpPr>
        <p:spPr>
          <a:xfrm>
            <a:off x="411480" y="255960"/>
            <a:ext cx="90720" cy="5662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Box 11"/>
          <p:cNvSpPr/>
          <p:nvPr/>
        </p:nvSpPr>
        <p:spPr>
          <a:xfrm>
            <a:off x="640080" y="164520"/>
            <a:ext cx="99050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Conclusion &amp; Future Directions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</a:pPr>
            <a:r>
              <a:rPr lang="en-US" sz="1300" b="0" i="1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What our reproduction confirms and what comes next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Rectangle 12"/>
          <p:cNvSpPr/>
          <p:nvPr/>
        </p:nvSpPr>
        <p:spPr>
          <a:xfrm>
            <a:off x="502920" y="987480"/>
            <a:ext cx="11185200" cy="86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0" name="Rectangle 13"/>
          <p:cNvSpPr/>
          <p:nvPr/>
        </p:nvSpPr>
        <p:spPr>
          <a:xfrm>
            <a:off x="502920" y="1417320"/>
            <a:ext cx="5577120" cy="4434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1" name="Rectangle 14"/>
          <p:cNvSpPr/>
          <p:nvPr/>
        </p:nvSpPr>
        <p:spPr>
          <a:xfrm>
            <a:off x="502920" y="1417320"/>
            <a:ext cx="557712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2" name="TextBox 15"/>
          <p:cNvSpPr/>
          <p:nvPr/>
        </p:nvSpPr>
        <p:spPr>
          <a:xfrm>
            <a:off x="731520" y="1508760"/>
            <a:ext cx="5119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 our reproduction confirms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Box 16"/>
          <p:cNvSpPr/>
          <p:nvPr/>
        </p:nvSpPr>
        <p:spPr>
          <a:xfrm>
            <a:off x="777240" y="2103120"/>
            <a:ext cx="5028480" cy="365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Linear scaling holds in practice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Mamba throughput is roughly flat in n; Transformer degrades sharply and OOMs at seq=8192.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Long-context efficiency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5.58× speedup at 4096 tokens, 8.93× at 8192; 64% memory reduction at 4096.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Quality at smaller scale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Lower perplexity (34.08 vs 41.41) under matched optimization config.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Smoother early convergence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Mamba converges faster in the early phase; both models approach similar regimes by 20k steps.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Rectangle 17"/>
          <p:cNvSpPr/>
          <p:nvPr/>
        </p:nvSpPr>
        <p:spPr>
          <a:xfrm>
            <a:off x="6217920" y="1417320"/>
            <a:ext cx="5485680" cy="4434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5" name="Rectangle 18"/>
          <p:cNvSpPr/>
          <p:nvPr/>
        </p:nvSpPr>
        <p:spPr>
          <a:xfrm>
            <a:off x="6217920" y="1417320"/>
            <a:ext cx="5485680" cy="5022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6" name="TextBox 19"/>
          <p:cNvSpPr/>
          <p:nvPr/>
        </p:nvSpPr>
        <p:spPr>
          <a:xfrm>
            <a:off x="6446520" y="150876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Future directions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Box 20"/>
          <p:cNvSpPr/>
          <p:nvPr/>
        </p:nvSpPr>
        <p:spPr>
          <a:xfrm>
            <a:off x="6492240" y="2103120"/>
            <a:ext cx="4937040" cy="365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Scale up parameters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Move from 130M toward 1B–10B and re-test scaling laws.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Diverse downstream tasks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Beyond LM perplexity — reasoning, retrieval, code, long-doc QA.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Hybrid SSM + Attention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Most promising direction in 2024–2026; combines complementary strengths.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20000"/>
              </a:lnSpc>
              <a:spcBef>
                <a:spcPts val="201"/>
              </a:spcBef>
              <a:spcAft>
                <a:spcPts val="99"/>
              </a:spcAft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Apply to new modalities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25000"/>
              </a:lnSpc>
              <a:spcAft>
                <a:spcPts val="799"/>
              </a:spcAft>
            </a:pPr>
            <a:r>
              <a:rPr lang="en-US" sz="1100" b="0" u="none" strike="noStrike">
                <a:solidFill>
                  <a:srgbClr val="4b5563"/>
                </a:solidFill>
                <a:effectLst/>
                <a:uFillTx/>
                <a:latin typeface="Calibri"/>
              </a:rPr>
              <a:t>Vision, audio, multimodal — leveraging long-context efficiency.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Box 21"/>
          <p:cNvSpPr/>
          <p:nvPr/>
        </p:nvSpPr>
        <p:spPr>
          <a:xfrm>
            <a:off x="502920" y="5989320"/>
            <a:ext cx="1118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200" b="1" i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Selective state space models are a strong long-context alternative to attention-heavy Transformers.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9" name="Picture 1" descr="campus.jpe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0" name="Rectangle 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e2761">
              <a:alpha val="7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1" name="Rectangle 3"/>
          <p:cNvSpPr/>
          <p:nvPr/>
        </p:nvSpPr>
        <p:spPr>
          <a:xfrm>
            <a:off x="10820160" y="274320"/>
            <a:ext cx="365040" cy="118080"/>
          </a:xfrm>
          <a:prstGeom prst="rect">
            <a:avLst/>
          </a:prstGeom>
          <a:solidFill>
            <a:srgbClr val="f4b4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Rectangle 4"/>
          <p:cNvSpPr/>
          <p:nvPr/>
        </p:nvSpPr>
        <p:spPr>
          <a:xfrm>
            <a:off x="11185920" y="274320"/>
            <a:ext cx="365040" cy="118080"/>
          </a:xfrm>
          <a:prstGeom prst="rect">
            <a:avLst/>
          </a:prstGeom>
          <a:solidFill>
            <a:srgbClr val="64c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3" name="Rectangle 5"/>
          <p:cNvSpPr/>
          <p:nvPr/>
        </p:nvSpPr>
        <p:spPr>
          <a:xfrm>
            <a:off x="11551680" y="274320"/>
            <a:ext cx="365040" cy="118080"/>
          </a:xfrm>
          <a:prstGeom prst="rect">
            <a:avLst/>
          </a:prstGeom>
          <a:solidFill>
            <a:srgbClr val="dc35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74" name="Picture 6" descr="bits_logo.png"/>
          <p:cNvPicPr/>
          <p:nvPr/>
        </p:nvPicPr>
        <p:blipFill>
          <a:blip r:embed="rId2"/>
          <a:stretch/>
        </p:blipFill>
        <p:spPr>
          <a:xfrm>
            <a:off x="10362960" y="502920"/>
            <a:ext cx="1553760" cy="54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5" name="TextBox 7"/>
          <p:cNvSpPr/>
          <p:nvPr/>
        </p:nvSpPr>
        <p:spPr>
          <a:xfrm>
            <a:off x="457200" y="1737360"/>
            <a:ext cx="112766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7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Thank You</a:t>
            </a:r>
            <a:endParaRPr lang="en-IN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Box 8"/>
          <p:cNvSpPr/>
          <p:nvPr/>
        </p:nvSpPr>
        <p:spPr>
          <a:xfrm>
            <a:off x="457200" y="2834640"/>
            <a:ext cx="11276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2200" b="0" i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Questions &amp; Discussion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Rectangle 9"/>
          <p:cNvSpPr/>
          <p:nvPr/>
        </p:nvSpPr>
        <p:spPr>
          <a:xfrm>
            <a:off x="1371600" y="4023360"/>
            <a:ext cx="9447840" cy="2193840"/>
          </a:xfrm>
          <a:prstGeom prst="rect">
            <a:avLst/>
          </a:prstGeom>
          <a:solidFill>
            <a:srgbClr val="141b4a"/>
          </a:solidFill>
          <a:ln w="12700">
            <a:solidFill>
              <a:srgbClr val="f4b4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8" name="TextBox 10"/>
          <p:cNvSpPr/>
          <p:nvPr/>
        </p:nvSpPr>
        <p:spPr>
          <a:xfrm>
            <a:off x="1371600" y="4187880"/>
            <a:ext cx="9447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4b43b"/>
                </a:solidFill>
                <a:effectLst/>
                <a:uFillTx/>
                <a:latin typeface="Calibri"/>
              </a:rPr>
              <a:t>References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Box 11"/>
          <p:cNvSpPr/>
          <p:nvPr/>
        </p:nvSpPr>
        <p:spPr>
          <a:xfrm>
            <a:off x="1691640" y="4617720"/>
            <a:ext cx="880776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Gu, A. &amp; Dao, T. (2023). Mamba: Linear-Time Sequence Modeling with Selective State Spaces.  arXiv:2312.00752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Dao, T. &amp; Gu, A. (2024). Transformers are SSMs (Structured State Space Duality).  arXiv:2405.21060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Project repository:  github.com/seriouslysahid/genai-mamba-assignment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2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Official Mamba code:  github.com/state-spaces/mamba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Box 12"/>
          <p:cNvSpPr/>
          <p:nvPr/>
        </p:nvSpPr>
        <p:spPr>
          <a:xfrm>
            <a:off x="457200" y="6355080"/>
            <a:ext cx="1127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000" b="0" i="1" u="none" strike="noStrike">
                <a:solidFill>
                  <a:srgbClr val="64c8e1"/>
                </a:solidFill>
                <a:effectLst/>
                <a:uFillTx/>
                <a:latin typeface="Calibri"/>
              </a:rPr>
              <a:t>Generative AI Course Project  •  Group 5  •  April 2026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LibreOffice/25.8.5.2$Windows_X86_64 LibreOffice_project/9c8b85f387cc00a89945a79c9e6239f32e450ac2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2026-04-28T03:49:48Z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